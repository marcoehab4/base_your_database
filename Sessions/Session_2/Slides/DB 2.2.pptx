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5143500" cx="9144000"/>
  <p:notesSz cx="6858000" cy="9144000"/>
  <p:embeddedFontLst>
    <p:embeddedFont>
      <p:font typeface="Roboto"/>
      <p:regular r:id="rId29"/>
      <p:bold r:id="rId30"/>
      <p:italic r:id="rId31"/>
      <p:boldItalic r:id="rId32"/>
    </p:embeddedFont>
    <p:embeddedFont>
      <p:font typeface="Merriweather Light"/>
      <p:regular r:id="rId33"/>
      <p:bold r:id="rId34"/>
      <p:italic r:id="rId35"/>
      <p:boldItalic r:id="rId36"/>
    </p:embeddedFont>
    <p:embeddedFont>
      <p:font typeface="Nunito"/>
      <p:regular r:id="rId37"/>
      <p:bold r:id="rId38"/>
      <p:italic r:id="rId39"/>
      <p:boldItalic r:id="rId40"/>
    </p:embeddedFont>
    <p:embeddedFont>
      <p:font typeface="Montserrat"/>
      <p:regular r:id="rId41"/>
      <p:bold r:id="rId42"/>
      <p:italic r:id="rId43"/>
      <p:boldItalic r:id="rId44"/>
    </p:embeddedFont>
    <p:embeddedFont>
      <p:font typeface="Open Sans SemiBold"/>
      <p:regular r:id="rId45"/>
      <p:bold r:id="rId46"/>
      <p:italic r:id="rId47"/>
      <p:boldItalic r:id="rId48"/>
    </p:embeddedFont>
    <p:embeddedFont>
      <p:font typeface="Vidaloka"/>
      <p:regular r:id="rId49"/>
    </p:embeddedFont>
    <p:embeddedFont>
      <p:font typeface="Russo One"/>
      <p:regular r:id="rId50"/>
    </p:embeddedFont>
    <p:embeddedFont>
      <p:font typeface="Mako"/>
      <p:regular r:id="rId51"/>
    </p:embeddedFont>
    <p:embeddedFont>
      <p:font typeface="Crimson Text"/>
      <p:regular r:id="rId52"/>
      <p:bold r:id="rId53"/>
      <p:italic r:id="rId54"/>
      <p:boldItalic r:id="rId55"/>
    </p:embeddedFont>
    <p:embeddedFont>
      <p:font typeface="Open Sans"/>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Nunito-boldItalic.fntdata"/><Relationship Id="rId42" Type="http://schemas.openxmlformats.org/officeDocument/2006/relationships/font" Target="fonts/Montserrat-bold.fntdata"/><Relationship Id="rId41" Type="http://schemas.openxmlformats.org/officeDocument/2006/relationships/font" Target="fonts/Montserrat-regular.fntdata"/><Relationship Id="rId44" Type="http://schemas.openxmlformats.org/officeDocument/2006/relationships/font" Target="fonts/Montserrat-boldItalic.fntdata"/><Relationship Id="rId43" Type="http://schemas.openxmlformats.org/officeDocument/2006/relationships/font" Target="fonts/Montserrat-italic.fntdata"/><Relationship Id="rId46" Type="http://schemas.openxmlformats.org/officeDocument/2006/relationships/font" Target="fonts/OpenSansSemiBold-bold.fntdata"/><Relationship Id="rId45" Type="http://schemas.openxmlformats.org/officeDocument/2006/relationships/font" Target="fonts/OpenSansSemiBold-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OpenSansSemiBold-boldItalic.fntdata"/><Relationship Id="rId47" Type="http://schemas.openxmlformats.org/officeDocument/2006/relationships/font" Target="fonts/OpenSansSemiBold-italic.fntdata"/><Relationship Id="rId49" Type="http://schemas.openxmlformats.org/officeDocument/2006/relationships/font" Target="fonts/Vidaloka-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italic.fntdata"/><Relationship Id="rId30" Type="http://schemas.openxmlformats.org/officeDocument/2006/relationships/font" Target="fonts/Roboto-bold.fntdata"/><Relationship Id="rId33" Type="http://schemas.openxmlformats.org/officeDocument/2006/relationships/font" Target="fonts/MerriweatherLight-regular.fntdata"/><Relationship Id="rId32" Type="http://schemas.openxmlformats.org/officeDocument/2006/relationships/font" Target="fonts/Roboto-boldItalic.fntdata"/><Relationship Id="rId35" Type="http://schemas.openxmlformats.org/officeDocument/2006/relationships/font" Target="fonts/MerriweatherLight-italic.fntdata"/><Relationship Id="rId34" Type="http://schemas.openxmlformats.org/officeDocument/2006/relationships/font" Target="fonts/MerriweatherLight-bold.fntdata"/><Relationship Id="rId37" Type="http://schemas.openxmlformats.org/officeDocument/2006/relationships/font" Target="fonts/Nunito-regular.fntdata"/><Relationship Id="rId36" Type="http://schemas.openxmlformats.org/officeDocument/2006/relationships/font" Target="fonts/MerriweatherLight-boldItalic.fntdata"/><Relationship Id="rId39" Type="http://schemas.openxmlformats.org/officeDocument/2006/relationships/font" Target="fonts/Nunito-italic.fntdata"/><Relationship Id="rId38" Type="http://schemas.openxmlformats.org/officeDocument/2006/relationships/font" Target="fonts/Nunito-bold.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font" Target="fonts/Roboto-regular.fntdata"/><Relationship Id="rId51" Type="http://schemas.openxmlformats.org/officeDocument/2006/relationships/font" Target="fonts/Mako-regular.fntdata"/><Relationship Id="rId50" Type="http://schemas.openxmlformats.org/officeDocument/2006/relationships/font" Target="fonts/RussoOne-regular.fntdata"/><Relationship Id="rId53" Type="http://schemas.openxmlformats.org/officeDocument/2006/relationships/font" Target="fonts/CrimsonText-bold.fntdata"/><Relationship Id="rId52" Type="http://schemas.openxmlformats.org/officeDocument/2006/relationships/font" Target="fonts/CrimsonText-regular.fntdata"/><Relationship Id="rId11" Type="http://schemas.openxmlformats.org/officeDocument/2006/relationships/slide" Target="slides/slide7.xml"/><Relationship Id="rId55" Type="http://schemas.openxmlformats.org/officeDocument/2006/relationships/font" Target="fonts/CrimsonText-boldItalic.fntdata"/><Relationship Id="rId10" Type="http://schemas.openxmlformats.org/officeDocument/2006/relationships/slide" Target="slides/slide6.xml"/><Relationship Id="rId54" Type="http://schemas.openxmlformats.org/officeDocument/2006/relationships/font" Target="fonts/CrimsonText-italic.fntdata"/><Relationship Id="rId13" Type="http://schemas.openxmlformats.org/officeDocument/2006/relationships/slide" Target="slides/slide9.xml"/><Relationship Id="rId57" Type="http://schemas.openxmlformats.org/officeDocument/2006/relationships/font" Target="fonts/OpenSans-bold.fntdata"/><Relationship Id="rId12" Type="http://schemas.openxmlformats.org/officeDocument/2006/relationships/slide" Target="slides/slide8.xml"/><Relationship Id="rId56" Type="http://schemas.openxmlformats.org/officeDocument/2006/relationships/font" Target="fonts/OpenSans-regular.fntdata"/><Relationship Id="rId15" Type="http://schemas.openxmlformats.org/officeDocument/2006/relationships/slide" Target="slides/slide11.xml"/><Relationship Id="rId59" Type="http://schemas.openxmlformats.org/officeDocument/2006/relationships/font" Target="fonts/OpenSans-boldItalic.fntdata"/><Relationship Id="rId14" Type="http://schemas.openxmlformats.org/officeDocument/2006/relationships/slide" Target="slides/slide10.xml"/><Relationship Id="rId58" Type="http://schemas.openxmlformats.org/officeDocument/2006/relationships/font" Target="fonts/OpenSans-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cf7a3c503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cf7a3c503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cc7554a049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cc7554a049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rgbClr val="0F1F3D"/>
                </a:solidFill>
                <a:highlight>
                  <a:schemeClr val="lt1"/>
                </a:highlight>
              </a:rPr>
              <a:t>Database relationships form the backbone of relational databases, enabling data to connect logically across multiple tables. They ensure your data remains structured, accessible, and meaningful, providing the foundation for powerful analytics and seamless operations. Understanding these relationships is key to building scalable and efficient systems, whether you are working with customer orders, employee hierarchies, or inventory tracking.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c97f994e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c97f994e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c97f994e7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c97f994e7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900"/>
              </a:spcBef>
              <a:spcAft>
                <a:spcPts val="0"/>
              </a:spcAft>
              <a:buClr>
                <a:srgbClr val="0A0A0A"/>
              </a:buClr>
              <a:buSzPts val="1200"/>
              <a:buChar char="●"/>
            </a:pPr>
            <a:r>
              <a:rPr b="1" lang="en" sz="1200">
                <a:solidFill>
                  <a:srgbClr val="0A0A0A"/>
                </a:solidFill>
                <a:highlight>
                  <a:srgbClr val="FFFFFF"/>
                </a:highlight>
              </a:rPr>
              <a:t>Student ↔ Locker</a:t>
            </a:r>
            <a:r>
              <a:rPr lang="en" sz="1200">
                <a:solidFill>
                  <a:srgbClr val="0A0A0A"/>
                </a:solidFill>
                <a:highlight>
                  <a:srgbClr val="FFFFFF"/>
                </a:highlight>
              </a:rPr>
              <a:t>: At many schools, a specific student is assigned to exactly one locker, and each locker belongs to only one student.</a:t>
            </a:r>
            <a:endParaRPr sz="1200">
              <a:solidFill>
                <a:srgbClr val="0A0A0A"/>
              </a:solidFill>
              <a:highlight>
                <a:srgbClr val="FFFFFF"/>
              </a:highlight>
            </a:endParaRPr>
          </a:p>
          <a:p>
            <a:pPr indent="-304800" lvl="0" marL="457200" rtl="0" algn="l">
              <a:lnSpc>
                <a:spcPct val="150000"/>
              </a:lnSpc>
              <a:spcBef>
                <a:spcPts val="0"/>
              </a:spcBef>
              <a:spcAft>
                <a:spcPts val="0"/>
              </a:spcAft>
              <a:buClr>
                <a:srgbClr val="0A0A0A"/>
              </a:buClr>
              <a:buSzPts val="1200"/>
              <a:buChar char="●"/>
            </a:pPr>
            <a:r>
              <a:rPr b="1" lang="en" sz="1200">
                <a:solidFill>
                  <a:srgbClr val="0A0A0A"/>
                </a:solidFill>
                <a:highlight>
                  <a:srgbClr val="FFFFFF"/>
                </a:highlight>
              </a:rPr>
              <a:t>Resident ↔ Mailbox</a:t>
            </a:r>
            <a:r>
              <a:rPr lang="en" sz="1200">
                <a:solidFill>
                  <a:srgbClr val="0A0A0A"/>
                </a:solidFill>
                <a:highlight>
                  <a:srgbClr val="FFFFFF"/>
                </a:highlight>
              </a:rPr>
              <a:t>: In some housing complexes, each resident has exactly one assigned mailbox</a:t>
            </a:r>
            <a:endParaRPr sz="1200">
              <a:solidFill>
                <a:srgbClr val="0A0A0A"/>
              </a:solidFill>
              <a:highlight>
                <a:srgbClr val="FFFFFF"/>
              </a:highlight>
            </a:endParaRPr>
          </a:p>
          <a:p>
            <a:pPr indent="0" lvl="0" marL="0" rtl="0" algn="l">
              <a:spcBef>
                <a:spcPts val="21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941502b40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941502b40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tables with information about countries and capital cities connect in a database using a primary key. For example, when added to the country table, the unique ID of a capital city (its primary key) becomes a foreign key, creating a relationship.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 one-to-one (1:1) relationship, you typically place the foreign key (FK) in the dependent (child) table. While the data could technically be linked from either side, the placement usually follows the logic of which record depends on the other for its existence</a:t>
            </a:r>
            <a:endParaRPr sz="1200">
              <a:solidFill>
                <a:srgbClr val="22282A"/>
              </a:solidFill>
              <a:highlight>
                <a:srgbClr val="FFFFFF"/>
              </a:highlight>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c97f994e7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c97f994e7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c97f994e7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c97f994e7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941502b40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941502b40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database containing two tables with information about mothers and children connects using a primary key. When added to the child table, the unique ID from a mother becomes a foreign key. Different children can have the same mother.</a:t>
            </a:r>
            <a:endParaRPr sz="1200">
              <a:solidFill>
                <a:srgbClr val="22282A"/>
              </a:solidFill>
              <a:highlight>
                <a:srgbClr val="FFFFFF"/>
              </a:highlight>
              <a:latin typeface="Roboto"/>
              <a:ea typeface="Roboto"/>
              <a:cs typeface="Roboto"/>
              <a:sym typeface="Roboto"/>
            </a:endParaRPr>
          </a:p>
          <a:p>
            <a:pPr indent="0" lvl="0" marL="0" rtl="0" algn="l">
              <a:spcBef>
                <a:spcPts val="0"/>
              </a:spcBef>
              <a:spcAft>
                <a:spcPts val="0"/>
              </a:spcAft>
              <a:buNone/>
            </a:pPr>
            <a:r>
              <a:rPr lang="en">
                <a:solidFill>
                  <a:schemeClr val="dk1"/>
                </a:solidFill>
              </a:rPr>
              <a:t> The </a:t>
            </a:r>
            <a:r>
              <a:rPr b="1" lang="en">
                <a:solidFill>
                  <a:schemeClr val="dk1"/>
                </a:solidFill>
              </a:rPr>
              <a:t>Foreign Key always goes on the "Many" side.</a:t>
            </a:r>
            <a:r>
              <a:rPr lang="en">
                <a:solidFill>
                  <a:schemeClr val="dk1"/>
                </a:solidFill>
              </a:rPr>
              <a:t> * </a:t>
            </a:r>
            <a:r>
              <a:rPr i="1" lang="en">
                <a:solidFill>
                  <a:schemeClr val="dk1"/>
                </a:solidFill>
              </a:rPr>
              <a:t>Analogy:</a:t>
            </a:r>
            <a:r>
              <a:rPr lang="en">
                <a:solidFill>
                  <a:schemeClr val="dk1"/>
                </a:solidFill>
              </a:rPr>
              <a:t> A child carries their parent's last name (ID) to show where they belong. You don't tattoo every child's name on the parent!</a:t>
            </a:r>
            <a:endParaRPr sz="1200">
              <a:solidFill>
                <a:srgbClr val="22282A"/>
              </a:solidFill>
              <a:highlight>
                <a:srgbClr val="FFFFFF"/>
              </a:highlight>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c97f994e7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c97f994e7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c97f994e7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c97f994e7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941502b40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941502b40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941502b40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941502b40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941502b406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941502b406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Database normalisation is the process of organizing the attributes of the database to reduce or eliminate data redundancy (having the same data but at different places).</a:t>
            </a:r>
            <a:endParaRPr/>
          </a:p>
          <a:p>
            <a:pPr indent="0" lvl="0" marL="0" rtl="0" algn="l">
              <a:spcBef>
                <a:spcPts val="0"/>
              </a:spcBef>
              <a:spcAft>
                <a:spcPts val="0"/>
              </a:spcAft>
              <a:buNone/>
            </a:pPr>
            <a:r>
              <a:rPr lang="en"/>
              <a:t>Data redundancy unnecessarily increases the size of the database as the same data is repeated in many places. Inconsistency problems also arise during insert, delete, and update operations. </a:t>
            </a:r>
            <a:endParaRPr/>
          </a:p>
          <a:p>
            <a:pPr indent="0" lvl="0" marL="0" rtl="0" algn="l">
              <a:spcBef>
                <a:spcPts val="0"/>
              </a:spcBef>
              <a:spcAft>
                <a:spcPts val="0"/>
              </a:spcAft>
              <a:buNone/>
            </a:pPr>
            <a:r>
              <a:rPr lang="en"/>
              <a:t>In the relational model, there exist standard methods to quantify how efficient a database is. These methods are called normal forms, and there are algorithms to convert a given database into normal forms.</a:t>
            </a:r>
            <a:endParaRPr/>
          </a:p>
          <a:p>
            <a:pPr indent="0" lvl="0" marL="0" rtl="0" algn="l">
              <a:spcBef>
                <a:spcPts val="0"/>
              </a:spcBef>
              <a:spcAft>
                <a:spcPts val="0"/>
              </a:spcAft>
              <a:buNone/>
            </a:pPr>
            <a:r>
              <a:rPr lang="en"/>
              <a:t>Normalization generally involves splitting a table into multiple ones, which must be linked each time a query is made requiring data from the split tables.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https://www.digitalocean.com/community/tutorials/database-normalization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941502b406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941502b406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0000"/>
              </a:lnSpc>
              <a:spcBef>
                <a:spcPts val="1800"/>
              </a:spcBef>
              <a:spcAft>
                <a:spcPts val="0"/>
              </a:spcAft>
              <a:buNone/>
            </a:pPr>
            <a:r>
              <a:rPr b="1" lang="en" sz="800">
                <a:solidFill>
                  <a:srgbClr val="273239"/>
                </a:solidFill>
                <a:highlight>
                  <a:srgbClr val="FFFFFF"/>
                </a:highlight>
                <a:latin typeface="Nunito"/>
                <a:ea typeface="Nunito"/>
                <a:cs typeface="Nunito"/>
                <a:sym typeface="Nunito"/>
              </a:rPr>
              <a:t>Problems in the Employee_Department Relation</a:t>
            </a:r>
            <a:endParaRPr b="1" sz="800">
              <a:solidFill>
                <a:srgbClr val="273239"/>
              </a:solidFill>
              <a:highlight>
                <a:srgbClr val="FFFFFF"/>
              </a:highlight>
              <a:latin typeface="Nunito"/>
              <a:ea typeface="Nunito"/>
              <a:cs typeface="Nunito"/>
              <a:sym typeface="Nunito"/>
            </a:endParaRPr>
          </a:p>
          <a:p>
            <a:pPr indent="-279400" lvl="0" marL="685800" rtl="0" algn="l">
              <a:lnSpc>
                <a:spcPct val="158000"/>
              </a:lnSpc>
              <a:spcBef>
                <a:spcPts val="1800"/>
              </a:spcBef>
              <a:spcAft>
                <a:spcPts val="0"/>
              </a:spcAft>
              <a:buClr>
                <a:srgbClr val="273239"/>
              </a:buClr>
              <a:buSzPts val="800"/>
              <a:buFont typeface="Nunito"/>
              <a:buAutoNum type="arabicPeriod"/>
            </a:pPr>
            <a:r>
              <a:rPr b="1" lang="en" sz="800">
                <a:solidFill>
                  <a:srgbClr val="273239"/>
                </a:solidFill>
                <a:highlight>
                  <a:srgbClr val="FFFFFF"/>
                </a:highlight>
                <a:latin typeface="Nunito"/>
                <a:ea typeface="Nunito"/>
                <a:cs typeface="Nunito"/>
                <a:sym typeface="Nunito"/>
              </a:rPr>
              <a:t>Insertion Anomaly:</a:t>
            </a:r>
            <a:r>
              <a:rPr lang="en" sz="800">
                <a:solidFill>
                  <a:srgbClr val="273239"/>
                </a:solidFill>
                <a:highlight>
                  <a:srgbClr val="FFFFFF"/>
                </a:highlight>
                <a:latin typeface="Nunito"/>
                <a:ea typeface="Nunito"/>
                <a:cs typeface="Nunito"/>
                <a:sym typeface="Nunito"/>
              </a:rPr>
              <a:t> If a new department is created but no employee is assigned to it yet, we cannot store its location because we need an employee record to insert.</a:t>
            </a:r>
            <a:endParaRPr sz="800">
              <a:solidFill>
                <a:srgbClr val="273239"/>
              </a:solidFill>
              <a:highlight>
                <a:srgbClr val="FFFFFF"/>
              </a:highlight>
              <a:latin typeface="Nunito"/>
              <a:ea typeface="Nunito"/>
              <a:cs typeface="Nunito"/>
              <a:sym typeface="Nunito"/>
            </a:endParaRPr>
          </a:p>
          <a:p>
            <a:pPr indent="-279400" lvl="0" marL="685800" rtl="0" algn="l">
              <a:lnSpc>
                <a:spcPct val="158000"/>
              </a:lnSpc>
              <a:spcBef>
                <a:spcPts val="0"/>
              </a:spcBef>
              <a:spcAft>
                <a:spcPts val="0"/>
              </a:spcAft>
              <a:buClr>
                <a:srgbClr val="273239"/>
              </a:buClr>
              <a:buSzPts val="800"/>
              <a:buFont typeface="Nunito"/>
              <a:buAutoNum type="arabicPeriod"/>
            </a:pPr>
            <a:r>
              <a:rPr b="1" lang="en" sz="800">
                <a:solidFill>
                  <a:srgbClr val="273239"/>
                </a:solidFill>
                <a:highlight>
                  <a:srgbClr val="FFFFFF"/>
                </a:highlight>
                <a:latin typeface="Nunito"/>
                <a:ea typeface="Nunito"/>
                <a:cs typeface="Nunito"/>
                <a:sym typeface="Nunito"/>
              </a:rPr>
              <a:t>Update Anomaly:</a:t>
            </a:r>
            <a:r>
              <a:rPr lang="en" sz="800">
                <a:solidFill>
                  <a:srgbClr val="273239"/>
                </a:solidFill>
                <a:highlight>
                  <a:srgbClr val="FFFFFF"/>
                </a:highlight>
                <a:latin typeface="Nunito"/>
                <a:ea typeface="Nunito"/>
                <a:cs typeface="Nunito"/>
                <a:sym typeface="Nunito"/>
              </a:rPr>
              <a:t> If the location of the HR department changes, we must update it in multiple rows (for both Nick Wise and Lily Case). If one row is missed, the data becomes inconsistent.</a:t>
            </a:r>
            <a:endParaRPr sz="800">
              <a:solidFill>
                <a:srgbClr val="273239"/>
              </a:solidFill>
              <a:highlight>
                <a:srgbClr val="FFFFFF"/>
              </a:highlight>
              <a:latin typeface="Nunito"/>
              <a:ea typeface="Nunito"/>
              <a:cs typeface="Nunito"/>
              <a:sym typeface="Nunito"/>
            </a:endParaRPr>
          </a:p>
          <a:p>
            <a:pPr indent="-279400" lvl="0" marL="685800" rtl="0" algn="l">
              <a:lnSpc>
                <a:spcPct val="158000"/>
              </a:lnSpc>
              <a:spcBef>
                <a:spcPts val="0"/>
              </a:spcBef>
              <a:spcAft>
                <a:spcPts val="0"/>
              </a:spcAft>
              <a:buClr>
                <a:srgbClr val="273239"/>
              </a:buClr>
              <a:buSzPts val="800"/>
              <a:buFont typeface="Nunito"/>
              <a:buAutoNum type="arabicPeriod"/>
            </a:pPr>
            <a:r>
              <a:rPr b="1" lang="en" sz="800">
                <a:solidFill>
                  <a:srgbClr val="273239"/>
                </a:solidFill>
                <a:highlight>
                  <a:srgbClr val="FFFFFF"/>
                </a:highlight>
                <a:latin typeface="Nunito"/>
                <a:ea typeface="Nunito"/>
                <a:cs typeface="Nunito"/>
                <a:sym typeface="Nunito"/>
              </a:rPr>
              <a:t>Deletion Anomaly:</a:t>
            </a:r>
            <a:r>
              <a:rPr lang="en" sz="800">
                <a:solidFill>
                  <a:srgbClr val="273239"/>
                </a:solidFill>
                <a:highlight>
                  <a:srgbClr val="FFFFFF"/>
                </a:highlight>
                <a:latin typeface="Nunito"/>
                <a:ea typeface="Nunito"/>
                <a:cs typeface="Nunito"/>
                <a:sym typeface="Nunito"/>
              </a:rPr>
              <a:t> If all employees in the IT department leave, we lose the department information, including its location.</a:t>
            </a:r>
            <a:endParaRPr sz="800">
              <a:solidFill>
                <a:srgbClr val="273239"/>
              </a:solidFill>
              <a:highlight>
                <a:srgbClr val="FFFFFF"/>
              </a:highlight>
              <a:latin typeface="Nunito"/>
              <a:ea typeface="Nunito"/>
              <a:cs typeface="Nunito"/>
              <a:sym typeface="Nunito"/>
            </a:endParaRPr>
          </a:p>
          <a:p>
            <a:pPr indent="-279400" lvl="0" marL="685800" rtl="0" algn="l">
              <a:lnSpc>
                <a:spcPct val="158000"/>
              </a:lnSpc>
              <a:spcBef>
                <a:spcPts val="0"/>
              </a:spcBef>
              <a:spcAft>
                <a:spcPts val="0"/>
              </a:spcAft>
              <a:buClr>
                <a:srgbClr val="273239"/>
              </a:buClr>
              <a:buSzPts val="800"/>
              <a:buFont typeface="Nunito"/>
              <a:buAutoNum type="arabicPeriod"/>
            </a:pPr>
            <a:r>
              <a:rPr b="1" lang="en" sz="800">
                <a:solidFill>
                  <a:srgbClr val="273239"/>
                </a:solidFill>
                <a:highlight>
                  <a:srgbClr val="FFFFFF"/>
                </a:highlight>
                <a:latin typeface="Nunito"/>
                <a:ea typeface="Nunito"/>
                <a:cs typeface="Nunito"/>
                <a:sym typeface="Nunito"/>
              </a:rPr>
              <a:t>Data Redundancy:</a:t>
            </a:r>
            <a:r>
              <a:rPr lang="en" sz="800">
                <a:solidFill>
                  <a:srgbClr val="273239"/>
                </a:solidFill>
                <a:highlight>
                  <a:srgbClr val="FFFFFF"/>
                </a:highlight>
                <a:latin typeface="Nunito"/>
                <a:ea typeface="Nunito"/>
                <a:cs typeface="Nunito"/>
                <a:sym typeface="Nunito"/>
              </a:rPr>
              <a:t> The department location is repeated for every employee in the same department.</a:t>
            </a:r>
            <a:endParaRPr sz="800">
              <a:solidFill>
                <a:srgbClr val="273239"/>
              </a:solidFill>
              <a:highlight>
                <a:srgbClr val="FFFFFF"/>
              </a:highlight>
              <a:latin typeface="Nunito"/>
              <a:ea typeface="Nunito"/>
              <a:cs typeface="Nunito"/>
              <a:sym typeface="Nunito"/>
            </a:endParaRPr>
          </a:p>
          <a:p>
            <a:pPr indent="-279400" lvl="0" marL="457200" rtl="0" algn="l">
              <a:lnSpc>
                <a:spcPct val="158000"/>
              </a:lnSpc>
              <a:spcBef>
                <a:spcPts val="0"/>
              </a:spcBef>
              <a:spcAft>
                <a:spcPts val="0"/>
              </a:spcAft>
              <a:buClr>
                <a:srgbClr val="273239"/>
              </a:buClr>
              <a:buSzPts val="800"/>
              <a:buFont typeface="Nunito"/>
              <a:buAutoNum type="arabicPeriod"/>
            </a:pPr>
            <a:r>
              <a:rPr b="1" lang="en" sz="800">
                <a:solidFill>
                  <a:srgbClr val="273239"/>
                </a:solidFill>
                <a:highlight>
                  <a:srgbClr val="FFFFFF"/>
                </a:highlight>
                <a:latin typeface="Nunito"/>
                <a:ea typeface="Nunito"/>
                <a:cs typeface="Nunito"/>
                <a:sym typeface="Nunito"/>
              </a:rPr>
              <a:t>Insertion Anomalies:</a:t>
            </a:r>
            <a:r>
              <a:rPr lang="en" sz="800">
                <a:solidFill>
                  <a:srgbClr val="273239"/>
                </a:solidFill>
                <a:highlight>
                  <a:srgbClr val="FFFFFF"/>
                </a:highlight>
                <a:latin typeface="Nunito"/>
                <a:ea typeface="Nunito"/>
                <a:cs typeface="Nunito"/>
                <a:sym typeface="Nunito"/>
              </a:rPr>
              <a:t> Insertion anomalies occur when it is not possible to insert data into a database because the required fields are missing or because the data is incomplete. For example, if a database requires that every record has a primary key, but no value is provided for a particular record, it cannot be inserted into the database.</a:t>
            </a:r>
            <a:endParaRPr sz="800">
              <a:solidFill>
                <a:srgbClr val="273239"/>
              </a:solidFill>
              <a:highlight>
                <a:srgbClr val="FFFFFF"/>
              </a:highlight>
              <a:latin typeface="Nunito"/>
              <a:ea typeface="Nunito"/>
              <a:cs typeface="Nunito"/>
              <a:sym typeface="Nunito"/>
            </a:endParaRPr>
          </a:p>
          <a:p>
            <a:pPr indent="-279400" lvl="0" marL="685800" rtl="0" algn="l">
              <a:lnSpc>
                <a:spcPct val="158000"/>
              </a:lnSpc>
              <a:spcBef>
                <a:spcPts val="0"/>
              </a:spcBef>
              <a:spcAft>
                <a:spcPts val="0"/>
              </a:spcAft>
              <a:buClr>
                <a:srgbClr val="273239"/>
              </a:buClr>
              <a:buSzPts val="800"/>
              <a:buFont typeface="Nunito"/>
              <a:buChar char="●"/>
            </a:pPr>
            <a:r>
              <a:rPr b="1" lang="en" sz="800">
                <a:solidFill>
                  <a:srgbClr val="273239"/>
                </a:solidFill>
                <a:highlight>
                  <a:srgbClr val="FFFFFF"/>
                </a:highlight>
                <a:latin typeface="Nunito"/>
                <a:ea typeface="Nunito"/>
                <a:cs typeface="Nunito"/>
                <a:sym typeface="Nunito"/>
              </a:rPr>
              <a:t>Deletion anomalies:</a:t>
            </a:r>
            <a:r>
              <a:rPr lang="en" sz="800">
                <a:solidFill>
                  <a:srgbClr val="273239"/>
                </a:solidFill>
                <a:highlight>
                  <a:srgbClr val="FFFFFF"/>
                </a:highlight>
                <a:latin typeface="Nunito"/>
                <a:ea typeface="Nunito"/>
                <a:cs typeface="Nunito"/>
                <a:sym typeface="Nunito"/>
              </a:rPr>
              <a:t> Deletion anomalies occur when deleting a record from a database and can result in the unintentional loss of data. For example, if a database contains information about customers and orders, deleting a customer record may also delete all the orders associated with that customer.</a:t>
            </a:r>
            <a:endParaRPr sz="800">
              <a:solidFill>
                <a:srgbClr val="273239"/>
              </a:solidFill>
              <a:highlight>
                <a:srgbClr val="FFFFFF"/>
              </a:highlight>
              <a:latin typeface="Nunito"/>
              <a:ea typeface="Nunito"/>
              <a:cs typeface="Nunito"/>
              <a:sym typeface="Nunito"/>
            </a:endParaRPr>
          </a:p>
          <a:p>
            <a:pPr indent="-279400" lvl="0" marL="685800" rtl="0" algn="l">
              <a:lnSpc>
                <a:spcPct val="158000"/>
              </a:lnSpc>
              <a:spcBef>
                <a:spcPts val="0"/>
              </a:spcBef>
              <a:spcAft>
                <a:spcPts val="0"/>
              </a:spcAft>
              <a:buClr>
                <a:srgbClr val="273239"/>
              </a:buClr>
              <a:buSzPts val="800"/>
              <a:buFont typeface="Nunito"/>
              <a:buChar char="●"/>
            </a:pPr>
            <a:r>
              <a:rPr b="1" lang="en" sz="800">
                <a:solidFill>
                  <a:srgbClr val="273239"/>
                </a:solidFill>
                <a:highlight>
                  <a:srgbClr val="FFFFFF"/>
                </a:highlight>
                <a:latin typeface="Nunito"/>
                <a:ea typeface="Nunito"/>
                <a:cs typeface="Nunito"/>
                <a:sym typeface="Nunito"/>
              </a:rPr>
              <a:t>Updation anomalies: </a:t>
            </a:r>
            <a:r>
              <a:rPr lang="en" sz="800">
                <a:solidFill>
                  <a:srgbClr val="273239"/>
                </a:solidFill>
                <a:highlight>
                  <a:srgbClr val="FFFFFF"/>
                </a:highlight>
                <a:latin typeface="Nunito"/>
                <a:ea typeface="Nunito"/>
                <a:cs typeface="Nunito"/>
                <a:sym typeface="Nunito"/>
              </a:rPr>
              <a:t>Updation anomalies occur when modifying data in a database and can result in inconsistencies or errors. For example, if a database contains information about employees and their salaries, updating an employee’s salary in one record but not in all related records could lead to incorrect calculations and reporting.</a:t>
            </a:r>
            <a:endParaRPr sz="800">
              <a:solidFill>
                <a:srgbClr val="273239"/>
              </a:solidFill>
              <a:highlight>
                <a:srgbClr val="FFFFFF"/>
              </a:highlight>
              <a:latin typeface="Nunito"/>
              <a:ea typeface="Nunito"/>
              <a:cs typeface="Nunito"/>
              <a:sym typeface="Nunito"/>
            </a:endParaRPr>
          </a:p>
          <a:p>
            <a:pPr indent="0" lvl="0" marL="0" rtl="0" algn="l">
              <a:lnSpc>
                <a:spcPct val="150000"/>
              </a:lnSpc>
              <a:spcBef>
                <a:spcPts val="1800"/>
              </a:spcBef>
              <a:spcAft>
                <a:spcPts val="0"/>
              </a:spcAft>
              <a:buNone/>
            </a:pPr>
            <a:r>
              <a:t/>
            </a:r>
            <a:endParaRPr i="1" sz="800">
              <a:solidFill>
                <a:schemeClr val="dk1"/>
              </a:solidFill>
            </a:endParaRPr>
          </a:p>
          <a:p>
            <a:pPr indent="0" lvl="0" marL="0" rtl="0" algn="l">
              <a:spcBef>
                <a:spcPts val="21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941502b40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941502b40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900"/>
              </a:spcBef>
              <a:spcAft>
                <a:spcPts val="0"/>
              </a:spcAft>
              <a:buClr>
                <a:srgbClr val="0A0A0A"/>
              </a:buClr>
              <a:buSzPts val="1200"/>
              <a:buChar char="●"/>
            </a:pPr>
            <a:r>
              <a:t/>
            </a:r>
            <a:endParaRPr sz="1200">
              <a:solidFill>
                <a:srgbClr val="0A0A0A"/>
              </a:solidFill>
              <a:highlight>
                <a:srgbClr val="FFFFFF"/>
              </a:highlight>
            </a:endParaRPr>
          </a:p>
          <a:p>
            <a:pPr indent="0" lvl="0" marL="0" rtl="0" algn="l">
              <a:spcBef>
                <a:spcPts val="21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941502b40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941502b406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 sz="1200">
                <a:solidFill>
                  <a:srgbClr val="4D5B7C"/>
                </a:solidFill>
              </a:rPr>
              <a:t>Why is this not in 1NF?</a:t>
            </a:r>
            <a:endParaRPr sz="1200">
              <a:solidFill>
                <a:srgbClr val="4D5B7C"/>
              </a:solidFill>
            </a:endParaRPr>
          </a:p>
          <a:p>
            <a:pPr indent="-304800" lvl="0" marL="457200" rtl="0" algn="l">
              <a:lnSpc>
                <a:spcPct val="115000"/>
              </a:lnSpc>
              <a:spcBef>
                <a:spcPts val="1800"/>
              </a:spcBef>
              <a:spcAft>
                <a:spcPts val="0"/>
              </a:spcAft>
              <a:buClr>
                <a:srgbClr val="4D5B7C"/>
              </a:buClr>
              <a:buSzPts val="1200"/>
              <a:buChar char="●"/>
            </a:pPr>
            <a:r>
              <a:rPr lang="en" sz="1200">
                <a:solidFill>
                  <a:srgbClr val="4D5B7C"/>
                </a:solidFill>
              </a:rPr>
              <a:t>Non-atomic values: “Purchased Products” contains multiple items per cell.</a:t>
            </a:r>
            <a:endParaRPr sz="1200">
              <a:solidFill>
                <a:srgbClr val="4D5B7C"/>
              </a:solidFill>
            </a:endParaRPr>
          </a:p>
          <a:p>
            <a:pPr indent="-304800" lvl="0" marL="457200" rtl="0" algn="l">
              <a:lnSpc>
                <a:spcPct val="115000"/>
              </a:lnSpc>
              <a:spcBef>
                <a:spcPts val="0"/>
              </a:spcBef>
              <a:spcAft>
                <a:spcPts val="0"/>
              </a:spcAft>
              <a:buClr>
                <a:srgbClr val="4D5B7C"/>
              </a:buClr>
              <a:buSzPts val="1200"/>
              <a:buChar char="●"/>
            </a:pPr>
            <a:r>
              <a:rPr lang="en" sz="1200">
                <a:solidFill>
                  <a:srgbClr val="4D5B7C"/>
                </a:solidFill>
              </a:rPr>
              <a:t>Querying and updating are complex: Searching for customers who bought “Mouse” requires string parsing.</a:t>
            </a:r>
            <a:endParaRPr sz="1200">
              <a:solidFill>
                <a:srgbClr val="4D5B7C"/>
              </a:solidFill>
            </a:endParaRPr>
          </a:p>
          <a:p>
            <a:pPr indent="-304800" lvl="0" marL="457200" rtl="0" algn="l">
              <a:lnSpc>
                <a:spcPct val="115000"/>
              </a:lnSpc>
              <a:spcBef>
                <a:spcPts val="0"/>
              </a:spcBef>
              <a:spcAft>
                <a:spcPts val="0"/>
              </a:spcAft>
              <a:buClr>
                <a:srgbClr val="4D5B7C"/>
              </a:buClr>
              <a:buSzPts val="1200"/>
              <a:buChar char="●"/>
            </a:pPr>
            <a:r>
              <a:rPr lang="en" sz="1200">
                <a:solidFill>
                  <a:srgbClr val="4D5B7C"/>
                </a:solidFill>
              </a:rPr>
              <a:t>Data integrity risks: No way to enforce referential integrity between products and customers.</a:t>
            </a:r>
            <a:endParaRPr sz="1200">
              <a:solidFill>
                <a:srgbClr val="4D5B7C"/>
              </a:solidFill>
            </a:endParaRPr>
          </a:p>
          <a:p>
            <a:pPr indent="-304800" lvl="0" marL="457200" rtl="0" algn="l">
              <a:lnSpc>
                <a:spcPct val="115000"/>
              </a:lnSpc>
              <a:spcBef>
                <a:spcPts val="0"/>
              </a:spcBef>
              <a:spcAft>
                <a:spcPts val="0"/>
              </a:spcAft>
              <a:buClr>
                <a:srgbClr val="4D5B7C"/>
              </a:buClr>
              <a:buSzPts val="1200"/>
              <a:buChar char="●"/>
            </a:pPr>
            <a:r>
              <a:rPr lang="en" sz="1200">
                <a:solidFill>
                  <a:srgbClr val="4D5B7C"/>
                </a:solidFill>
              </a:rPr>
              <a:t>Inconsistent data entry: Different delimiters or typos can creep in.</a:t>
            </a:r>
            <a:endParaRPr sz="1200">
              <a:solidFill>
                <a:srgbClr val="4D5B7C"/>
              </a:solidFill>
            </a:endParaRPr>
          </a:p>
          <a:p>
            <a:pPr indent="-304800" lvl="0" marL="457200" rtl="0" algn="l">
              <a:lnSpc>
                <a:spcPct val="115000"/>
              </a:lnSpc>
              <a:spcBef>
                <a:spcPts val="0"/>
              </a:spcBef>
              <a:spcAft>
                <a:spcPts val="0"/>
              </a:spcAft>
              <a:buClr>
                <a:srgbClr val="4D5B7C"/>
              </a:buClr>
              <a:buSzPts val="1200"/>
              <a:buChar char="●"/>
            </a:pPr>
            <a:r>
              <a:rPr lang="en" sz="1200">
                <a:solidFill>
                  <a:srgbClr val="4D5B7C"/>
                </a:solidFill>
              </a:rPr>
              <a:t>Reporting challenges: Generating reports such as “How many customers bought a Laptop?” becomes complicated, as you cannot simply filter a column for “Laptop”, you must parse the string.</a:t>
            </a:r>
            <a:endParaRPr sz="1200">
              <a:solidFill>
                <a:srgbClr val="4D5B7C"/>
              </a:solidFill>
            </a:endParaRPr>
          </a:p>
          <a:p>
            <a:pPr indent="-304800" lvl="0" marL="457200" rtl="0" algn="l">
              <a:lnSpc>
                <a:spcPct val="115000"/>
              </a:lnSpc>
              <a:spcBef>
                <a:spcPts val="0"/>
              </a:spcBef>
              <a:spcAft>
                <a:spcPts val="0"/>
              </a:spcAft>
              <a:buClr>
                <a:srgbClr val="4D5B7C"/>
              </a:buClr>
              <a:buSzPts val="1200"/>
              <a:buChar char="●"/>
            </a:pPr>
            <a:r>
              <a:rPr lang="en" sz="1200">
                <a:solidFill>
                  <a:srgbClr val="4D5B7C"/>
                </a:solidFill>
              </a:rPr>
              <a:t>Update anomalies: If a product name changes (e.g., “Mouse” to “Wireless Mouse”), you must update every occurrence in every cell, increasing the risk of missing some entries.</a:t>
            </a:r>
            <a:endParaRPr sz="1200">
              <a:solidFill>
                <a:srgbClr val="4D5B7C"/>
              </a:solidFill>
            </a:endParaRPr>
          </a:p>
          <a:p>
            <a:pPr indent="-304800" lvl="0" marL="457200" rtl="0" algn="l">
              <a:lnSpc>
                <a:spcPct val="115000"/>
              </a:lnSpc>
              <a:spcBef>
                <a:spcPts val="0"/>
              </a:spcBef>
              <a:spcAft>
                <a:spcPts val="0"/>
              </a:spcAft>
              <a:buClr>
                <a:srgbClr val="4D5B7C"/>
              </a:buClr>
              <a:buSzPts val="1200"/>
              <a:buChar char="●"/>
            </a:pPr>
            <a:r>
              <a:rPr lang="en" sz="1200">
                <a:solidFill>
                  <a:srgbClr val="4D5B7C"/>
                </a:solidFill>
              </a:rPr>
              <a:t>Data integrity risks: There is no way to enforce referential integrity between products and customers, which can lead to orphaned or inconsistent data.</a:t>
            </a:r>
            <a:endParaRPr sz="1200">
              <a:solidFill>
                <a:srgbClr val="4D5B7C"/>
              </a:solidFill>
            </a:endParaRPr>
          </a:p>
          <a:p>
            <a:pPr indent="0" lvl="0" marL="0" rtl="0" algn="l">
              <a:spcBef>
                <a:spcPts val="1800"/>
              </a:spcBef>
              <a:spcAft>
                <a:spcPts val="0"/>
              </a:spcAft>
              <a:buNone/>
            </a:pPr>
            <a:r>
              <a:t/>
            </a:r>
            <a:endParaRPr sz="1350">
              <a:solidFill>
                <a:srgbClr val="273239"/>
              </a:solidFill>
              <a:highlight>
                <a:srgbClr val="FFFFFF"/>
              </a:highlight>
              <a:latin typeface="Nunito"/>
              <a:ea typeface="Nunito"/>
              <a:cs typeface="Nunito"/>
              <a:sym typeface="Nuni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941502b406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941502b406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 sz="1200">
                <a:solidFill>
                  <a:srgbClr val="4D5B7C"/>
                </a:solidFill>
              </a:rPr>
              <a:t>Transformation Steps to Achieve 1NF:</a:t>
            </a:r>
            <a:endParaRPr sz="1200">
              <a:solidFill>
                <a:srgbClr val="4D5B7C"/>
              </a:solidFill>
            </a:endParaRPr>
          </a:p>
          <a:p>
            <a:pPr indent="-304800" lvl="0" marL="457200" rtl="0" algn="l">
              <a:lnSpc>
                <a:spcPct val="115000"/>
              </a:lnSpc>
              <a:spcBef>
                <a:spcPts val="1800"/>
              </a:spcBef>
              <a:spcAft>
                <a:spcPts val="0"/>
              </a:spcAft>
              <a:buClr>
                <a:srgbClr val="4D5B7C"/>
              </a:buClr>
              <a:buSzPts val="1200"/>
              <a:buAutoNum type="arabicPeriod"/>
            </a:pPr>
            <a:r>
              <a:rPr lang="en" sz="1200">
                <a:solidFill>
                  <a:srgbClr val="4D5B7C"/>
                </a:solidFill>
              </a:rPr>
              <a:t>Identify columns with non-atomic values: In this case, “Purchased Products” contains multiple values.</a:t>
            </a:r>
            <a:endParaRPr sz="1200">
              <a:solidFill>
                <a:srgbClr val="4D5B7C"/>
              </a:solidFill>
            </a:endParaRPr>
          </a:p>
          <a:p>
            <a:pPr indent="-304800" lvl="0" marL="457200" rtl="0" algn="l">
              <a:lnSpc>
                <a:spcPct val="115000"/>
              </a:lnSpc>
              <a:spcBef>
                <a:spcPts val="0"/>
              </a:spcBef>
              <a:spcAft>
                <a:spcPts val="0"/>
              </a:spcAft>
              <a:buClr>
                <a:srgbClr val="4D5B7C"/>
              </a:buClr>
              <a:buSzPts val="1200"/>
              <a:buAutoNum type="arabicPeriod"/>
            </a:pPr>
            <a:r>
              <a:rPr lang="en" sz="1200">
                <a:solidFill>
                  <a:srgbClr val="4D5B7C"/>
                </a:solidFill>
              </a:rPr>
              <a:t>Split the multi-valued column into separate rows: Each product purchased by a customer should be represented as a separate row, ensuring that every field contains only a single value.</a:t>
            </a:r>
            <a:endParaRPr sz="1200">
              <a:solidFill>
                <a:srgbClr val="4D5B7C"/>
              </a:solidFill>
            </a:endParaRPr>
          </a:p>
          <a:p>
            <a:pPr indent="0" lvl="0" marL="0" rtl="0" algn="l">
              <a:spcBef>
                <a:spcPts val="1800"/>
              </a:spcBef>
              <a:spcAft>
                <a:spcPts val="0"/>
              </a:spcAft>
              <a:buNone/>
            </a:pPr>
            <a:r>
              <a:t/>
            </a:r>
            <a:endParaRPr sz="1200">
              <a:solidFill>
                <a:srgbClr val="4D5B7C"/>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941502b406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941502b40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900"/>
              </a:spcBef>
              <a:spcAft>
                <a:spcPts val="0"/>
              </a:spcAft>
              <a:buNone/>
            </a:pPr>
            <a:r>
              <a:rPr lang="en" sz="1200">
                <a:solidFill>
                  <a:srgbClr val="4D5B7C"/>
                </a:solidFill>
              </a:rPr>
              <a:t> </a:t>
            </a:r>
            <a:r>
              <a:rPr i="1" lang="en" sz="1200">
                <a:solidFill>
                  <a:srgbClr val="4D5B7C"/>
                </a:solidFill>
              </a:rPr>
              <a:t>partial dependencies</a:t>
            </a:r>
            <a:r>
              <a:rPr lang="en" sz="1200">
                <a:solidFill>
                  <a:srgbClr val="4D5B7C"/>
                </a:solidFill>
              </a:rPr>
              <a:t>, where a non-key attribute depends only on part of a composite key.</a:t>
            </a:r>
            <a:endParaRPr sz="1200">
              <a:solidFill>
                <a:srgbClr val="0A0A0A"/>
              </a:solidFill>
              <a:highlight>
                <a:srgbClr val="FFFFFF"/>
              </a:highlight>
            </a:endParaRPr>
          </a:p>
          <a:p>
            <a:pPr indent="0" lvl="0" marL="0" rtl="0" algn="l">
              <a:spcBef>
                <a:spcPts val="21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941502b406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941502b406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4D5B7C"/>
                </a:solidFill>
              </a:rPr>
              <a:t>“Customer Name” depends only on “Customer ID”, not the full primary key (“Order ID”, “Customer ID”). This is a partial dependency.</a:t>
            </a:r>
            <a:endParaRPr sz="1200">
              <a:solidFill>
                <a:srgbClr val="4D5B7C"/>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941502b406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941502b406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lang="en" sz="1200">
                <a:solidFill>
                  <a:srgbClr val="4D5B7C"/>
                </a:solidFill>
              </a:rPr>
              <a:t>Normalization to 2NF:</a:t>
            </a:r>
            <a:endParaRPr sz="1200">
              <a:solidFill>
                <a:srgbClr val="4D5B7C"/>
              </a:solidFill>
            </a:endParaRPr>
          </a:p>
          <a:p>
            <a:pPr indent="-304800" lvl="0" marL="457200" rtl="0" algn="l">
              <a:lnSpc>
                <a:spcPct val="115000"/>
              </a:lnSpc>
              <a:spcBef>
                <a:spcPts val="1800"/>
              </a:spcBef>
              <a:spcAft>
                <a:spcPts val="0"/>
              </a:spcAft>
              <a:buClr>
                <a:srgbClr val="4D5B7C"/>
              </a:buClr>
              <a:buSzPts val="1200"/>
              <a:buChar char="●"/>
            </a:pPr>
            <a:r>
              <a:rPr lang="en" sz="1200">
                <a:solidFill>
                  <a:srgbClr val="4D5B7C"/>
                </a:solidFill>
              </a:rPr>
              <a:t>Separate customer information into its own table.</a:t>
            </a:r>
            <a:endParaRPr sz="1200">
              <a:solidFill>
                <a:srgbClr val="4D5B7C"/>
              </a:solidFill>
            </a:endParaRPr>
          </a:p>
          <a:p>
            <a:pPr indent="0" lvl="0" marL="0" rtl="0" algn="l">
              <a:lnSpc>
                <a:spcPct val="115000"/>
              </a:lnSpc>
              <a:spcBef>
                <a:spcPts val="1800"/>
              </a:spcBef>
              <a:spcAft>
                <a:spcPts val="0"/>
              </a:spcAft>
              <a:buClr>
                <a:schemeClr val="dk1"/>
              </a:buClr>
              <a:buSzPts val="1100"/>
              <a:buFont typeface="Arial"/>
              <a:buNone/>
            </a:pPr>
            <a:r>
              <a:rPr lang="en" sz="1200">
                <a:solidFill>
                  <a:srgbClr val="4D5B7C"/>
                </a:solidFill>
              </a:rPr>
              <a:t>Benefits:</a:t>
            </a:r>
            <a:endParaRPr sz="1200">
              <a:solidFill>
                <a:srgbClr val="4D5B7C"/>
              </a:solidFill>
            </a:endParaRPr>
          </a:p>
          <a:p>
            <a:pPr indent="-304800" lvl="0" marL="457200" rtl="0" algn="l">
              <a:lnSpc>
                <a:spcPct val="115000"/>
              </a:lnSpc>
              <a:spcBef>
                <a:spcPts val="1800"/>
              </a:spcBef>
              <a:spcAft>
                <a:spcPts val="0"/>
              </a:spcAft>
              <a:buClr>
                <a:srgbClr val="4D5B7C"/>
              </a:buClr>
              <a:buSzPts val="1200"/>
              <a:buChar char="●"/>
            </a:pPr>
            <a:r>
              <a:rPr lang="en" sz="1200">
                <a:solidFill>
                  <a:srgbClr val="4D5B7C"/>
                </a:solidFill>
              </a:rPr>
              <a:t>Eliminates redundancy of customer details.</a:t>
            </a:r>
            <a:endParaRPr sz="1200">
              <a:solidFill>
                <a:srgbClr val="4D5B7C"/>
              </a:solidFill>
            </a:endParaRPr>
          </a:p>
          <a:p>
            <a:pPr indent="-304800" lvl="0" marL="457200" rtl="0" algn="l">
              <a:lnSpc>
                <a:spcPct val="115000"/>
              </a:lnSpc>
              <a:spcBef>
                <a:spcPts val="0"/>
              </a:spcBef>
              <a:spcAft>
                <a:spcPts val="0"/>
              </a:spcAft>
              <a:buClr>
                <a:srgbClr val="4D5B7C"/>
              </a:buClr>
              <a:buSzPts val="1200"/>
              <a:buChar char="●"/>
            </a:pPr>
            <a:r>
              <a:rPr lang="en" sz="1200">
                <a:solidFill>
                  <a:srgbClr val="4D5B7C"/>
                </a:solidFill>
              </a:rPr>
              <a:t>Simplifies data maintenance and updates.</a:t>
            </a:r>
            <a:endParaRPr sz="1200">
              <a:solidFill>
                <a:srgbClr val="4D5B7C"/>
              </a:solidFill>
            </a:endParaRPr>
          </a:p>
          <a:p>
            <a:pPr indent="0" lvl="0" marL="0" rtl="0" algn="l">
              <a:spcBef>
                <a:spcPts val="1800"/>
              </a:spcBef>
              <a:spcAft>
                <a:spcPts val="0"/>
              </a:spcAft>
              <a:buNone/>
            </a:pPr>
            <a:r>
              <a:t/>
            </a:r>
            <a:endParaRPr sz="1200">
              <a:solidFill>
                <a:srgbClr val="4D5B7C"/>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941502b40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941502b40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This means a non-prime attribute (an attribute that is not part of the candidate’s key) is dependent on another non-prime attribute. This is what the third normal form (3NF) eliminates.</a:t>
            </a:r>
            <a:endParaRPr sz="1200">
              <a:solidFill>
                <a:srgbClr val="0A0A0A"/>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941502b406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941502b406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4D5B7C"/>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941502b406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941502b406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lang="en" sz="1200">
                <a:solidFill>
                  <a:srgbClr val="4D5B7C"/>
                </a:solidFill>
              </a:rPr>
              <a:t>Benefits:</a:t>
            </a:r>
            <a:endParaRPr sz="1200">
              <a:solidFill>
                <a:srgbClr val="4D5B7C"/>
              </a:solidFill>
            </a:endParaRPr>
          </a:p>
          <a:p>
            <a:pPr indent="-304800" lvl="0" marL="457200" rtl="0" algn="l">
              <a:lnSpc>
                <a:spcPct val="115000"/>
              </a:lnSpc>
              <a:spcBef>
                <a:spcPts val="1800"/>
              </a:spcBef>
              <a:spcAft>
                <a:spcPts val="0"/>
              </a:spcAft>
              <a:buClr>
                <a:srgbClr val="4D5B7C"/>
              </a:buClr>
              <a:buSzPts val="1200"/>
              <a:buChar char="●"/>
            </a:pPr>
            <a:r>
              <a:rPr lang="en" sz="1200">
                <a:solidFill>
                  <a:srgbClr val="4D5B7C"/>
                </a:solidFill>
              </a:rPr>
              <a:t>Removes transitive dependencies.</a:t>
            </a:r>
            <a:endParaRPr sz="1200">
              <a:solidFill>
                <a:srgbClr val="4D5B7C"/>
              </a:solidFill>
            </a:endParaRPr>
          </a:p>
          <a:p>
            <a:pPr indent="-304800" lvl="0" marL="457200" rtl="0" algn="l">
              <a:lnSpc>
                <a:spcPct val="115000"/>
              </a:lnSpc>
              <a:spcBef>
                <a:spcPts val="0"/>
              </a:spcBef>
              <a:spcAft>
                <a:spcPts val="0"/>
              </a:spcAft>
              <a:buClr>
                <a:srgbClr val="4D5B7C"/>
              </a:buClr>
              <a:buSzPts val="1200"/>
              <a:buChar char="●"/>
            </a:pPr>
            <a:r>
              <a:rPr lang="en" sz="1200">
                <a:solidFill>
                  <a:srgbClr val="4D5B7C"/>
                </a:solidFill>
              </a:rPr>
              <a:t>Reduces data duplication.</a:t>
            </a:r>
            <a:endParaRPr sz="1200">
              <a:solidFill>
                <a:srgbClr val="4D5B7C"/>
              </a:solidFill>
            </a:endParaRPr>
          </a:p>
          <a:p>
            <a:pPr indent="-304800" lvl="0" marL="457200" rtl="0" algn="l">
              <a:lnSpc>
                <a:spcPct val="115000"/>
              </a:lnSpc>
              <a:spcBef>
                <a:spcPts val="0"/>
              </a:spcBef>
              <a:spcAft>
                <a:spcPts val="0"/>
              </a:spcAft>
              <a:buClr>
                <a:srgbClr val="4D5B7C"/>
              </a:buClr>
              <a:buSzPts val="1200"/>
              <a:buChar char="●"/>
            </a:pPr>
            <a:r>
              <a:rPr lang="en" sz="1200">
                <a:solidFill>
                  <a:srgbClr val="4D5B7C"/>
                </a:solidFill>
              </a:rPr>
              <a:t>Improves data integrity and maintainability.</a:t>
            </a:r>
            <a:endParaRPr sz="1200">
              <a:solidFill>
                <a:srgbClr val="4D5B7C"/>
              </a:solidFill>
            </a:endParaRPr>
          </a:p>
          <a:p>
            <a:pPr indent="0" lvl="0" marL="0" rtl="0" algn="l">
              <a:lnSpc>
                <a:spcPct val="115000"/>
              </a:lnSpc>
              <a:spcBef>
                <a:spcPts val="1800"/>
              </a:spcBef>
              <a:spcAft>
                <a:spcPts val="1800"/>
              </a:spcAft>
              <a:buNone/>
            </a:pPr>
            <a:r>
              <a:t/>
            </a:r>
            <a:endParaRPr sz="1200">
              <a:solidFill>
                <a:srgbClr val="4D5B7C"/>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324500"/>
            <a:ext cx="70641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40000" y="3377100"/>
            <a:ext cx="7064100" cy="441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867300" y="2366275"/>
            <a:ext cx="7409400" cy="8184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8" name="Google Shape;18;p3"/>
          <p:cNvSpPr txBox="1"/>
          <p:nvPr>
            <p:ph idx="1" type="subTitle"/>
          </p:nvPr>
        </p:nvSpPr>
        <p:spPr>
          <a:xfrm>
            <a:off x="2291400" y="3305275"/>
            <a:ext cx="4561200" cy="39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 name="Google Shape;20;p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 name="Google Shape;21;p3"/>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 name="Google Shape;22;p3"/>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26" name="Google Shape;26;p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 name="Google Shape;27;p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 name="Google Shape;28;p4"/>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2" name="Google Shape;32;p5"/>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 name="Google Shape;33;p5"/>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4" name="Google Shape;34;p5"/>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 name="Google Shape;36;p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 name="Google Shape;37;p5"/>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 name="Google Shape;41;p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44" name="Google Shape;44;p7"/>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5" name="Google Shape;45;p7"/>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6" name="Google Shape;46;p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 name="Google Shape;47;p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0" name="Google Shape;50;p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 name="Google Shape;51;p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 name="Google Shape;52;p8"/>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 name="Google Shape;53;p8"/>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9"/>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6" name="Google Shape;56;p9"/>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 name="Google Shape;58;p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 name="Google Shape;59;p9"/>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10"/>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62" name="Google Shape;62;p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3" name="Google Shape;63;p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 name="Google Shape;64;p10"/>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 name="Google Shape;69;p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0" name="Google Shape;70;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 name="Google Shape;71;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3" name="Shape 73"/>
        <p:cNvGrpSpPr/>
        <p:nvPr/>
      </p:nvGrpSpPr>
      <p:grpSpPr>
        <a:xfrm>
          <a:off x="0" y="0"/>
          <a:ext cx="0" cy="0"/>
          <a:chOff x="0" y="0"/>
          <a:chExt cx="0" cy="0"/>
        </a:xfrm>
      </p:grpSpPr>
      <p:sp>
        <p:nvSpPr>
          <p:cNvPr id="74" name="Google Shape;74;p1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p:nvPr>
            <p:ph idx="1" type="subTitle"/>
          </p:nvPr>
        </p:nvSpPr>
        <p:spPr>
          <a:xfrm>
            <a:off x="50010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6" name="Google Shape;76;p13"/>
          <p:cNvSpPr txBox="1"/>
          <p:nvPr>
            <p:ph idx="2" type="subTitle"/>
          </p:nvPr>
        </p:nvSpPr>
        <p:spPr>
          <a:xfrm>
            <a:off x="50010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3"/>
          <p:cNvSpPr txBox="1"/>
          <p:nvPr>
            <p:ph idx="3" type="subTitle"/>
          </p:nvPr>
        </p:nvSpPr>
        <p:spPr>
          <a:xfrm>
            <a:off x="16552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 name="Google Shape;78;p13"/>
          <p:cNvSpPr txBox="1"/>
          <p:nvPr>
            <p:ph idx="4" type="subTitle"/>
          </p:nvPr>
        </p:nvSpPr>
        <p:spPr>
          <a:xfrm>
            <a:off x="16552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3"/>
          <p:cNvSpPr txBox="1"/>
          <p:nvPr>
            <p:ph idx="5" type="subTitle"/>
          </p:nvPr>
        </p:nvSpPr>
        <p:spPr>
          <a:xfrm>
            <a:off x="50010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0" name="Google Shape;80;p13"/>
          <p:cNvSpPr txBox="1"/>
          <p:nvPr>
            <p:ph idx="6" type="subTitle"/>
          </p:nvPr>
        </p:nvSpPr>
        <p:spPr>
          <a:xfrm>
            <a:off x="500100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3"/>
          <p:cNvSpPr txBox="1"/>
          <p:nvPr>
            <p:ph idx="7" type="subTitle"/>
          </p:nvPr>
        </p:nvSpPr>
        <p:spPr>
          <a:xfrm>
            <a:off x="16552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2" name="Google Shape;82;p13"/>
          <p:cNvSpPr txBox="1"/>
          <p:nvPr>
            <p:ph idx="8" type="subTitle"/>
          </p:nvPr>
        </p:nvSpPr>
        <p:spPr>
          <a:xfrm>
            <a:off x="165525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3"/>
          <p:cNvSpPr txBox="1"/>
          <p:nvPr>
            <p:ph hasCustomPrompt="1" idx="9" type="title"/>
          </p:nvPr>
        </p:nvSpPr>
        <p:spPr>
          <a:xfrm>
            <a:off x="23786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p:nvPr>
            <p:ph hasCustomPrompt="1" idx="13" type="title"/>
          </p:nvPr>
        </p:nvSpPr>
        <p:spPr>
          <a:xfrm>
            <a:off x="57244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p:nvPr>
            <p:ph hasCustomPrompt="1" idx="14" type="title"/>
          </p:nvPr>
        </p:nvSpPr>
        <p:spPr>
          <a:xfrm>
            <a:off x="237870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p:nvPr>
            <p:ph hasCustomPrompt="1" idx="15" type="title"/>
          </p:nvPr>
        </p:nvSpPr>
        <p:spPr>
          <a:xfrm>
            <a:off x="572445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8" name="Google Shape;88;p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89" name="Shape 89"/>
        <p:cNvGrpSpPr/>
        <p:nvPr/>
      </p:nvGrpSpPr>
      <p:grpSpPr>
        <a:xfrm>
          <a:off x="0" y="0"/>
          <a:ext cx="0" cy="0"/>
          <a:chOff x="0" y="0"/>
          <a:chExt cx="0" cy="0"/>
        </a:xfrm>
      </p:grpSpPr>
      <p:sp>
        <p:nvSpPr>
          <p:cNvPr id="90" name="Google Shape;90;p14"/>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4"/>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3" name="Google Shape;93;p14"/>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4"/>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4"/>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9" name="Google Shape;99;p14"/>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4"/>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4"/>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 name="Google Shape;103;p14"/>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5" name="Google Shape;105;p14"/>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4"/>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14"/>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9" name="Google Shape;109;p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 name="Google Shape;110;p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 name="Google Shape;111;p1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2" name="Google Shape;112;p1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13" name="Shape 113"/>
        <p:cNvGrpSpPr/>
        <p:nvPr/>
      </p:nvGrpSpPr>
      <p:grpSpPr>
        <a:xfrm>
          <a:off x="0" y="0"/>
          <a:ext cx="0" cy="0"/>
          <a:chOff x="0" y="0"/>
          <a:chExt cx="0" cy="0"/>
        </a:xfrm>
      </p:grpSpPr>
      <p:sp>
        <p:nvSpPr>
          <p:cNvPr id="114" name="Google Shape;114;p15"/>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15" name="Google Shape;115;p15"/>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6" name="Google Shape;116;p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 name="Google Shape;117;p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118" name="Shape 118"/>
        <p:cNvGrpSpPr/>
        <p:nvPr/>
      </p:nvGrpSpPr>
      <p:grpSpPr>
        <a:xfrm>
          <a:off x="0" y="0"/>
          <a:ext cx="0" cy="0"/>
          <a:chOff x="0" y="0"/>
          <a:chExt cx="0" cy="0"/>
        </a:xfrm>
      </p:grpSpPr>
      <p:sp>
        <p:nvSpPr>
          <p:cNvPr id="119" name="Google Shape;119;p16"/>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20" name="Google Shape;120;p16"/>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21" name="Google Shape;121;p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2" name="Google Shape;122;p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3" name="Google Shape;123;p1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 name="Google Shape;124;p1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25" name="Shape 125"/>
        <p:cNvGrpSpPr/>
        <p:nvPr/>
      </p:nvGrpSpPr>
      <p:grpSpPr>
        <a:xfrm>
          <a:off x="0" y="0"/>
          <a:ext cx="0" cy="0"/>
          <a:chOff x="0" y="0"/>
          <a:chExt cx="0" cy="0"/>
        </a:xfrm>
      </p:grpSpPr>
      <p:sp>
        <p:nvSpPr>
          <p:cNvPr id="126" name="Google Shape;126;p17"/>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27" name="Google Shape;127;p17"/>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128" name="Google Shape;128;p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9" name="Google Shape;129;p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0" name="Google Shape;130;p1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 name="Google Shape;131;p1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1">
    <p:spTree>
      <p:nvGrpSpPr>
        <p:cNvPr id="132" name="Shape 132"/>
        <p:cNvGrpSpPr/>
        <p:nvPr/>
      </p:nvGrpSpPr>
      <p:grpSpPr>
        <a:xfrm>
          <a:off x="0" y="0"/>
          <a:ext cx="0" cy="0"/>
          <a:chOff x="0" y="0"/>
          <a:chExt cx="0" cy="0"/>
        </a:xfrm>
      </p:grpSpPr>
      <p:sp>
        <p:nvSpPr>
          <p:cNvPr id="133" name="Google Shape;133;p18"/>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sp>
        <p:nvSpPr>
          <p:cNvPr id="134" name="Google Shape;134;p18"/>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35" name="Google Shape;135;p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 name="Google Shape;136;p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7" name="Google Shape;137;p18"/>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38" name="Shape 138"/>
        <p:cNvGrpSpPr/>
        <p:nvPr/>
      </p:nvGrpSpPr>
      <p:grpSpPr>
        <a:xfrm>
          <a:off x="0" y="0"/>
          <a:ext cx="0" cy="0"/>
          <a:chOff x="0" y="0"/>
          <a:chExt cx="0" cy="0"/>
        </a:xfrm>
      </p:grpSpPr>
      <p:sp>
        <p:nvSpPr>
          <p:cNvPr id="139" name="Google Shape;139;p19"/>
          <p:cNvSpPr txBox="1"/>
          <p:nvPr>
            <p:ph type="title"/>
          </p:nvPr>
        </p:nvSpPr>
        <p:spPr>
          <a:xfrm>
            <a:off x="845550" y="1482825"/>
            <a:ext cx="74529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7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140" name="Google Shape;140;p19"/>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141" name="Google Shape;141;p1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2" name="Google Shape;142;p1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143" name="Shape 143"/>
        <p:cNvGrpSpPr/>
        <p:nvPr/>
      </p:nvGrpSpPr>
      <p:grpSpPr>
        <a:xfrm>
          <a:off x="0" y="0"/>
          <a:ext cx="0" cy="0"/>
          <a:chOff x="0" y="0"/>
          <a:chExt cx="0" cy="0"/>
        </a:xfrm>
      </p:grpSpPr>
      <p:sp>
        <p:nvSpPr>
          <p:cNvPr id="144" name="Google Shape;144;p20"/>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45" name="Google Shape;145;p20"/>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46" name="Google Shape;146;p2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7" name="Google Shape;147;p2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8" name="Google Shape;148;p2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9" name="Google Shape;149;p2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0" name="Google Shape;150;p2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1" name="Google Shape;151;p2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152" name="Shape 152"/>
        <p:cNvGrpSpPr/>
        <p:nvPr/>
      </p:nvGrpSpPr>
      <p:grpSpPr>
        <a:xfrm>
          <a:off x="0" y="0"/>
          <a:ext cx="0" cy="0"/>
          <a:chOff x="0" y="0"/>
          <a:chExt cx="0" cy="0"/>
        </a:xfrm>
      </p:grpSpPr>
      <p:sp>
        <p:nvSpPr>
          <p:cNvPr id="153" name="Google Shape;153;p21"/>
          <p:cNvSpPr txBox="1"/>
          <p:nvPr>
            <p:ph type="title"/>
          </p:nvPr>
        </p:nvSpPr>
        <p:spPr>
          <a:xfrm>
            <a:off x="427325" y="2511800"/>
            <a:ext cx="4965600" cy="11133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4" name="Google Shape;154;p21"/>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55" name="Google Shape;155;p21"/>
          <p:cNvSpPr txBox="1"/>
          <p:nvPr>
            <p:ph idx="1" type="subTitle"/>
          </p:nvPr>
        </p:nvSpPr>
        <p:spPr>
          <a:xfrm>
            <a:off x="831625" y="3625000"/>
            <a:ext cx="4561200" cy="39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56" name="Google Shape;156;p21"/>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7" name="Google Shape;157;p21"/>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8" name="Google Shape;158;p21"/>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9" name="Google Shape;159;p21"/>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60" name="Shape 160"/>
        <p:cNvGrpSpPr/>
        <p:nvPr/>
      </p:nvGrpSpPr>
      <p:grpSpPr>
        <a:xfrm>
          <a:off x="0" y="0"/>
          <a:ext cx="0" cy="0"/>
          <a:chOff x="0" y="0"/>
          <a:chExt cx="0" cy="0"/>
        </a:xfrm>
      </p:grpSpPr>
      <p:sp>
        <p:nvSpPr>
          <p:cNvPr id="161" name="Google Shape;161;p2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62" name="Google Shape;162;p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3" name="Google Shape;163;p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4" name="Google Shape;164;p22"/>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65" name="Shape 165"/>
        <p:cNvGrpSpPr/>
        <p:nvPr/>
      </p:nvGrpSpPr>
      <p:grpSpPr>
        <a:xfrm>
          <a:off x="0" y="0"/>
          <a:ext cx="0" cy="0"/>
          <a:chOff x="0" y="0"/>
          <a:chExt cx="0" cy="0"/>
        </a:xfrm>
      </p:grpSpPr>
      <p:cxnSp>
        <p:nvCxnSpPr>
          <p:cNvPr id="166" name="Google Shape;166;p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7" name="Google Shape;167;p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8" name="Google Shape;168;p2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9" name="Google Shape;169;p2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70" name="Google Shape;170;p2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71" name="Google Shape;171;p2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72" name="Google Shape;172;p2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173" name="Shape 173"/>
        <p:cNvGrpSpPr/>
        <p:nvPr/>
      </p:nvGrpSpPr>
      <p:grpSpPr>
        <a:xfrm>
          <a:off x="0" y="0"/>
          <a:ext cx="0" cy="0"/>
          <a:chOff x="0" y="0"/>
          <a:chExt cx="0" cy="0"/>
        </a:xfrm>
      </p:grpSpPr>
      <p:sp>
        <p:nvSpPr>
          <p:cNvPr id="174" name="Google Shape;174;p24"/>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5" name="Google Shape;175;p24"/>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6" name="Google Shape;176;p24"/>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7" name="Google Shape;177;p24"/>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8" name="Google Shape;178;p24"/>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9" name="Google Shape;179;p24"/>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80" name="Google Shape;180;p24"/>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81" name="Google Shape;181;p24"/>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82" name="Google Shape;182;p24"/>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83" name="Google Shape;183;p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4" name="Google Shape;184;p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185" name="Shape 185"/>
        <p:cNvGrpSpPr/>
        <p:nvPr/>
      </p:nvGrpSpPr>
      <p:grpSpPr>
        <a:xfrm>
          <a:off x="0" y="0"/>
          <a:ext cx="0" cy="0"/>
          <a:chOff x="0" y="0"/>
          <a:chExt cx="0" cy="0"/>
        </a:xfrm>
      </p:grpSpPr>
      <p:cxnSp>
        <p:nvCxnSpPr>
          <p:cNvPr id="186" name="Google Shape;186;p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7" name="Google Shape;187;p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8" name="Google Shape;188;p2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89" name="Google Shape;189;p2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90" name="Google Shape;190;p25"/>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191" name="Shape 191"/>
        <p:cNvGrpSpPr/>
        <p:nvPr/>
      </p:nvGrpSpPr>
      <p:grpSpPr>
        <a:xfrm>
          <a:off x="0" y="0"/>
          <a:ext cx="0" cy="0"/>
          <a:chOff x="0" y="0"/>
          <a:chExt cx="0" cy="0"/>
        </a:xfrm>
      </p:grpSpPr>
      <p:sp>
        <p:nvSpPr>
          <p:cNvPr id="192" name="Google Shape;192;p26"/>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93" name="Google Shape;193;p26"/>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94" name="Google Shape;194;p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5" name="Google Shape;195;p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6" name="Google Shape;196;p2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97" name="Google Shape;197;p2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198" name="Shape 198"/>
        <p:cNvGrpSpPr/>
        <p:nvPr/>
      </p:nvGrpSpPr>
      <p:grpSpPr>
        <a:xfrm>
          <a:off x="0" y="0"/>
          <a:ext cx="0" cy="0"/>
          <a:chOff x="0" y="0"/>
          <a:chExt cx="0" cy="0"/>
        </a:xfrm>
      </p:grpSpPr>
      <p:sp>
        <p:nvSpPr>
          <p:cNvPr id="199" name="Google Shape;199;p27"/>
          <p:cNvSpPr txBox="1"/>
          <p:nvPr>
            <p:ph type="title"/>
          </p:nvPr>
        </p:nvSpPr>
        <p:spPr>
          <a:xfrm>
            <a:off x="4346500" y="2467375"/>
            <a:ext cx="4083600" cy="1200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0" name="Google Shape;200;p27"/>
          <p:cNvSpPr txBox="1"/>
          <p:nvPr>
            <p:ph hasCustomPrompt="1" idx="2" type="title"/>
          </p:nvPr>
        </p:nvSpPr>
        <p:spPr>
          <a:xfrm>
            <a:off x="4956100" y="1021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1" name="Google Shape;201;p27"/>
          <p:cNvSpPr txBox="1"/>
          <p:nvPr>
            <p:ph idx="1" type="subTitle"/>
          </p:nvPr>
        </p:nvSpPr>
        <p:spPr>
          <a:xfrm>
            <a:off x="4346500" y="3649675"/>
            <a:ext cx="40836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2" name="Google Shape;202;p2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3" name="Google Shape;203;p2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4" name="Google Shape;204;p27"/>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205" name="Shape 205"/>
        <p:cNvGrpSpPr/>
        <p:nvPr/>
      </p:nvGrpSpPr>
      <p:grpSpPr>
        <a:xfrm>
          <a:off x="0" y="0"/>
          <a:ext cx="0" cy="0"/>
          <a:chOff x="0" y="0"/>
          <a:chExt cx="0" cy="0"/>
        </a:xfrm>
      </p:grpSpPr>
      <p:sp>
        <p:nvSpPr>
          <p:cNvPr id="206" name="Google Shape;206;p28"/>
          <p:cNvSpPr txBox="1"/>
          <p:nvPr>
            <p:ph type="title"/>
          </p:nvPr>
        </p:nvSpPr>
        <p:spPr>
          <a:xfrm>
            <a:off x="4373850" y="944250"/>
            <a:ext cx="40095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7" name="Google Shape;207;p28"/>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8" name="Google Shape;208;p28"/>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9" name="Google Shape;209;p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0" name="Google Shape;210;p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1" name="Google Shape;211;p2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2" name="Google Shape;212;p2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3" name="Google Shape;213;p28"/>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4" name="Google Shape;214;p28"/>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215" name="Shape 215"/>
        <p:cNvGrpSpPr/>
        <p:nvPr/>
      </p:nvGrpSpPr>
      <p:grpSpPr>
        <a:xfrm>
          <a:off x="0" y="0"/>
          <a:ext cx="0" cy="0"/>
          <a:chOff x="0" y="0"/>
          <a:chExt cx="0" cy="0"/>
        </a:xfrm>
      </p:grpSpPr>
      <p:sp>
        <p:nvSpPr>
          <p:cNvPr id="216" name="Google Shape;216;p29"/>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7" name="Google Shape;217;p29"/>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8" name="Google Shape;218;p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9" name="Google Shape;219;p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0" name="Google Shape;220;p29"/>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221" name="Shape 221"/>
        <p:cNvGrpSpPr/>
        <p:nvPr/>
      </p:nvGrpSpPr>
      <p:grpSpPr>
        <a:xfrm>
          <a:off x="0" y="0"/>
          <a:ext cx="0" cy="0"/>
          <a:chOff x="0" y="0"/>
          <a:chExt cx="0" cy="0"/>
        </a:xfrm>
      </p:grpSpPr>
      <p:sp>
        <p:nvSpPr>
          <p:cNvPr id="222" name="Google Shape;222;p30"/>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3" name="Google Shape;223;p30"/>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24" name="Google Shape;224;p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5" name="Google Shape;225;p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6" name="Google Shape;226;p3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7" name="Google Shape;227;p3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8" name="Google Shape;228;p3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9" name="Google Shape;229;p3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230" name="Shape 230"/>
        <p:cNvGrpSpPr/>
        <p:nvPr/>
      </p:nvGrpSpPr>
      <p:grpSpPr>
        <a:xfrm>
          <a:off x="0" y="0"/>
          <a:ext cx="0" cy="0"/>
          <a:chOff x="0" y="0"/>
          <a:chExt cx="0" cy="0"/>
        </a:xfrm>
      </p:grpSpPr>
      <p:sp>
        <p:nvSpPr>
          <p:cNvPr id="231" name="Google Shape;231;p31"/>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2" name="Google Shape;232;p31"/>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3" name="Google Shape;233;p31"/>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4" name="Google Shape;234;p31"/>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5" name="Google Shape;235;p31"/>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6" name="Google Shape;236;p31"/>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7" name="Google Shape;237;p31"/>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38" name="Google Shape;238;p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9" name="Google Shape;239;p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240" name="Shape 240"/>
        <p:cNvGrpSpPr/>
        <p:nvPr/>
      </p:nvGrpSpPr>
      <p:grpSpPr>
        <a:xfrm>
          <a:off x="0" y="0"/>
          <a:ext cx="0" cy="0"/>
          <a:chOff x="0" y="0"/>
          <a:chExt cx="0" cy="0"/>
        </a:xfrm>
      </p:grpSpPr>
      <p:sp>
        <p:nvSpPr>
          <p:cNvPr id="241" name="Google Shape;241;p32"/>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2" name="Google Shape;242;p32"/>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3" name="Google Shape;243;p32"/>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4" name="Google Shape;244;p32"/>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5" name="Google Shape;245;p32"/>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6" name="Google Shape;246;p32"/>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7" name="Google Shape;247;p32"/>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248" name="Google Shape;248;p32"/>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9" name="Google Shape;249;p32"/>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0" name="Google Shape;250;p32"/>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51" name="Google Shape;251;p32"/>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2" name="Google Shape;252;p32"/>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53" name="Google Shape;253;p32"/>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254" name="Google Shape;254;p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5" name="Google Shape;255;p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6" name="Google Shape;256;p3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7" name="Google Shape;257;p3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32">
    <p:spTree>
      <p:nvGrpSpPr>
        <p:cNvPr id="258" name="Shape 258"/>
        <p:cNvGrpSpPr/>
        <p:nvPr/>
      </p:nvGrpSpPr>
      <p:grpSpPr>
        <a:xfrm>
          <a:off x="0" y="0"/>
          <a:ext cx="0" cy="0"/>
          <a:chOff x="0" y="0"/>
          <a:chExt cx="0" cy="0"/>
        </a:xfrm>
      </p:grpSpPr>
      <p:sp>
        <p:nvSpPr>
          <p:cNvPr id="259" name="Google Shape;259;p33"/>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0" name="Google Shape;260;p33"/>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1" name="Google Shape;261;p33"/>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2" name="Google Shape;262;p33"/>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3" name="Google Shape;263;p33"/>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4" name="Google Shape;264;p33"/>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5" name="Google Shape;265;p33"/>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6" name="Google Shape;266;p33"/>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7" name="Google Shape;267;p33"/>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8" name="Google Shape;268;p33"/>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9" name="Google Shape;269;p33"/>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0" name="Google Shape;270;p33"/>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1" name="Google Shape;271;p33"/>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72" name="Google Shape;272;p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3" name="Google Shape;273;p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274" name="Shape 274"/>
        <p:cNvGrpSpPr/>
        <p:nvPr/>
      </p:nvGrpSpPr>
      <p:grpSpPr>
        <a:xfrm>
          <a:off x="0" y="0"/>
          <a:ext cx="0" cy="0"/>
          <a:chOff x="0" y="0"/>
          <a:chExt cx="0" cy="0"/>
        </a:xfrm>
      </p:grpSpPr>
      <p:sp>
        <p:nvSpPr>
          <p:cNvPr id="275" name="Google Shape;275;p34"/>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6" name="Google Shape;276;p34"/>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7" name="Google Shape;277;p34"/>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8" name="Google Shape;278;p34"/>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9" name="Google Shape;279;p34"/>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0" name="Google Shape;280;p34"/>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1" name="Google Shape;281;p34"/>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2" name="Google Shape;282;p34"/>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3" name="Google Shape;283;p34"/>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4" name="Google Shape;284;p34"/>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5" name="Google Shape;285;p34"/>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86" name="Google Shape;286;p3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7" name="Google Shape;287;p3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8" name="Google Shape;288;p3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9" name="Google Shape;289;p3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290" name="Shape 290"/>
        <p:cNvGrpSpPr/>
        <p:nvPr/>
      </p:nvGrpSpPr>
      <p:grpSpPr>
        <a:xfrm>
          <a:off x="0" y="0"/>
          <a:ext cx="0" cy="0"/>
          <a:chOff x="0" y="0"/>
          <a:chExt cx="0" cy="0"/>
        </a:xfrm>
      </p:grpSpPr>
      <p:sp>
        <p:nvSpPr>
          <p:cNvPr id="291" name="Google Shape;291;p35"/>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292" name="Google Shape;292;p3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93" name="Google Shape;293;p3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94" name="Google Shape;294;p3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5" name="Google Shape;295;p3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6" name="Google Shape;296;p3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7" name="Google Shape;297;p35"/>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298" name="Shape 298"/>
        <p:cNvGrpSpPr/>
        <p:nvPr/>
      </p:nvGrpSpPr>
      <p:grpSpPr>
        <a:xfrm>
          <a:off x="0" y="0"/>
          <a:ext cx="0" cy="0"/>
          <a:chOff x="0" y="0"/>
          <a:chExt cx="0" cy="0"/>
        </a:xfrm>
      </p:grpSpPr>
      <p:sp>
        <p:nvSpPr>
          <p:cNvPr id="299" name="Google Shape;299;p36"/>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0" name="Google Shape;300;p36"/>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1" name="Google Shape;301;p36"/>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2" name="Google Shape;302;p36"/>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3" name="Google Shape;303;p36"/>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4" name="Google Shape;304;p36"/>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5" name="Google Shape;305;p36"/>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6" name="Google Shape;306;p36"/>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7" name="Google Shape;307;p36"/>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08" name="Google Shape;308;p3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09" name="Google Shape;309;p3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310" name="Shape 310"/>
        <p:cNvGrpSpPr/>
        <p:nvPr/>
      </p:nvGrpSpPr>
      <p:grpSpPr>
        <a:xfrm>
          <a:off x="0" y="0"/>
          <a:ext cx="0" cy="0"/>
          <a:chOff x="0" y="0"/>
          <a:chExt cx="0" cy="0"/>
        </a:xfrm>
      </p:grpSpPr>
      <p:sp>
        <p:nvSpPr>
          <p:cNvPr id="311" name="Google Shape;311;p37"/>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2" name="Google Shape;312;p37"/>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3" name="Google Shape;313;p37"/>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4" name="Google Shape;314;p37"/>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5" name="Google Shape;315;p37"/>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6" name="Google Shape;316;p37"/>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7" name="Google Shape;317;p37"/>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18" name="Google Shape;318;p3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9" name="Google Shape;319;p3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0" name="Google Shape;320;p37"/>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321" name="Shape 321"/>
        <p:cNvGrpSpPr/>
        <p:nvPr/>
      </p:nvGrpSpPr>
      <p:grpSpPr>
        <a:xfrm>
          <a:off x="0" y="0"/>
          <a:ext cx="0" cy="0"/>
          <a:chOff x="0" y="0"/>
          <a:chExt cx="0" cy="0"/>
        </a:xfrm>
      </p:grpSpPr>
      <p:cxnSp>
        <p:nvCxnSpPr>
          <p:cNvPr id="322" name="Google Shape;322;p3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3" name="Google Shape;323;p3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4" name="Google Shape;324;p3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5" name="Google Shape;325;p3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6" name="Google Shape;326;p38"/>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7" name="Google Shape;327;p38"/>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28" name="Google Shape;328;p38"/>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9" name="Google Shape;329;p38"/>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0" name="Google Shape;330;p38"/>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1" name="Google Shape;331;p38"/>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2" name="Google Shape;332;p38"/>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3" name="Google Shape;333;p38"/>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4" name="Google Shape;334;p38"/>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5" name="Google Shape;335;p38"/>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6" name="Google Shape;336;p38"/>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7" name="Google Shape;337;p38"/>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8" name="Google Shape;338;p38"/>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9" name="Google Shape;339;p38"/>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40" name="Google Shape;340;p38"/>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341" name="Shape 341"/>
        <p:cNvGrpSpPr/>
        <p:nvPr/>
      </p:nvGrpSpPr>
      <p:grpSpPr>
        <a:xfrm>
          <a:off x="0" y="0"/>
          <a:ext cx="0" cy="0"/>
          <a:chOff x="0" y="0"/>
          <a:chExt cx="0" cy="0"/>
        </a:xfrm>
      </p:grpSpPr>
      <p:sp>
        <p:nvSpPr>
          <p:cNvPr id="342" name="Google Shape;342;p39"/>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3" name="Google Shape;343;p39"/>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4" name="Google Shape;344;p39"/>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5" name="Google Shape;345;p39"/>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6" name="Google Shape;346;p39"/>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7" name="Google Shape;347;p39"/>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8" name="Google Shape;348;p39"/>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49" name="Google Shape;349;p3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0" name="Google Shape;350;p3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351" name="Shape 351"/>
        <p:cNvGrpSpPr/>
        <p:nvPr/>
      </p:nvGrpSpPr>
      <p:grpSpPr>
        <a:xfrm>
          <a:off x="0" y="0"/>
          <a:ext cx="0" cy="0"/>
          <a:chOff x="0" y="0"/>
          <a:chExt cx="0" cy="0"/>
        </a:xfrm>
      </p:grpSpPr>
      <p:sp>
        <p:nvSpPr>
          <p:cNvPr id="352" name="Google Shape;352;p40"/>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3" name="Google Shape;353;p40"/>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4" name="Google Shape;354;p40"/>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5" name="Google Shape;355;p40"/>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6" name="Google Shape;356;p40"/>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7" name="Google Shape;357;p40"/>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8" name="Google Shape;358;p40"/>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9" name="Google Shape;359;p40"/>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0" name="Google Shape;360;p40"/>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61" name="Google Shape;361;p4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2" name="Google Shape;362;p4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363" name="Shape 363"/>
        <p:cNvGrpSpPr/>
        <p:nvPr/>
      </p:nvGrpSpPr>
      <p:grpSpPr>
        <a:xfrm>
          <a:off x="0" y="0"/>
          <a:ext cx="0" cy="0"/>
          <a:chOff x="0" y="0"/>
          <a:chExt cx="0" cy="0"/>
        </a:xfrm>
      </p:grpSpPr>
      <p:cxnSp>
        <p:nvCxnSpPr>
          <p:cNvPr id="364" name="Google Shape;364;p4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5" name="Google Shape;365;p4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6" name="Google Shape;366;p4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7" name="Google Shape;367;p4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8" name="Google Shape;368;p41"/>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9" name="Google Shape;369;p41"/>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70" name="Google Shape;370;p41"/>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1" name="Google Shape;371;p41"/>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2" name="Google Shape;372;p41"/>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3" name="Google Shape;373;p41"/>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4" name="Google Shape;374;p41"/>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375" name="Google Shape;375;p41"/>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6" name="Google Shape;376;p41"/>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377" name="Shape 377"/>
        <p:cNvGrpSpPr/>
        <p:nvPr/>
      </p:nvGrpSpPr>
      <p:grpSpPr>
        <a:xfrm>
          <a:off x="0" y="0"/>
          <a:ext cx="0" cy="0"/>
          <a:chOff x="0" y="0"/>
          <a:chExt cx="0" cy="0"/>
        </a:xfrm>
      </p:grpSpPr>
      <p:sp>
        <p:nvSpPr>
          <p:cNvPr id="378" name="Google Shape;378;p42"/>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9" name="Google Shape;379;p42"/>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0" name="Google Shape;380;p42"/>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1" name="Google Shape;381;p42"/>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2" name="Google Shape;382;p42"/>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3" name="Google Shape;383;p42"/>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84" name="Google Shape;384;p4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5" name="Google Shape;385;p4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386" name="Shape 386"/>
        <p:cNvGrpSpPr/>
        <p:nvPr/>
      </p:nvGrpSpPr>
      <p:grpSpPr>
        <a:xfrm>
          <a:off x="0" y="0"/>
          <a:ext cx="0" cy="0"/>
          <a:chOff x="0" y="0"/>
          <a:chExt cx="0" cy="0"/>
        </a:xfrm>
      </p:grpSpPr>
      <p:sp>
        <p:nvSpPr>
          <p:cNvPr id="387" name="Google Shape;387;p43"/>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8" name="Google Shape;388;p43"/>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9" name="Google Shape;389;p43"/>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0" name="Google Shape;390;p43"/>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91" name="Google Shape;391;p43"/>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2" name="Google Shape;392;p43"/>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93" name="Google Shape;393;p4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4" name="Google Shape;394;p4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5" name="Google Shape;395;p4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6" name="Google Shape;396;p4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7" name="Google Shape;397;p4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98" name="Google Shape;398;p43"/>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9" name="Google Shape;399;p43"/>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400" name="Google Shape;400;p43"/>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401" name="Shape 401"/>
        <p:cNvGrpSpPr/>
        <p:nvPr/>
      </p:nvGrpSpPr>
      <p:grpSpPr>
        <a:xfrm>
          <a:off x="0" y="0"/>
          <a:ext cx="0" cy="0"/>
          <a:chOff x="0" y="0"/>
          <a:chExt cx="0" cy="0"/>
        </a:xfrm>
      </p:grpSpPr>
      <p:sp>
        <p:nvSpPr>
          <p:cNvPr id="402" name="Google Shape;402;p44"/>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3" name="Google Shape;403;p44"/>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404" name="Google Shape;404;p4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5" name="Google Shape;405;p4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406" name="Shape 406"/>
        <p:cNvGrpSpPr/>
        <p:nvPr/>
      </p:nvGrpSpPr>
      <p:grpSpPr>
        <a:xfrm>
          <a:off x="0" y="0"/>
          <a:ext cx="0" cy="0"/>
          <a:chOff x="0" y="0"/>
          <a:chExt cx="0" cy="0"/>
        </a:xfrm>
      </p:grpSpPr>
      <p:sp>
        <p:nvSpPr>
          <p:cNvPr id="407" name="Google Shape;407;p45"/>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408" name="Google Shape;408;p45"/>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409" name="Google Shape;409;p4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0" name="Google Shape;410;p4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411" name="Shape 411"/>
        <p:cNvGrpSpPr/>
        <p:nvPr/>
      </p:nvGrpSpPr>
      <p:grpSpPr>
        <a:xfrm>
          <a:off x="0" y="0"/>
          <a:ext cx="0" cy="0"/>
          <a:chOff x="0" y="0"/>
          <a:chExt cx="0" cy="0"/>
        </a:xfrm>
      </p:grpSpPr>
      <p:sp>
        <p:nvSpPr>
          <p:cNvPr id="412" name="Google Shape;412;p46"/>
          <p:cNvSpPr txBox="1"/>
          <p:nvPr>
            <p:ph idx="1" type="subTitle"/>
          </p:nvPr>
        </p:nvSpPr>
        <p:spPr>
          <a:xfrm>
            <a:off x="713225" y="1453525"/>
            <a:ext cx="74112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413" name="Google Shape;413;p46"/>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14" name="Google Shape;414;p4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5" name="Google Shape;415;p4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6" name="Google Shape;416;p46"/>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417" name="Shape 417"/>
        <p:cNvGrpSpPr/>
        <p:nvPr/>
      </p:nvGrpSpPr>
      <p:grpSpPr>
        <a:xfrm>
          <a:off x="0" y="0"/>
          <a:ext cx="0" cy="0"/>
          <a:chOff x="0" y="0"/>
          <a:chExt cx="0" cy="0"/>
        </a:xfrm>
      </p:grpSpPr>
      <p:cxnSp>
        <p:nvCxnSpPr>
          <p:cNvPr id="418" name="Google Shape;418;p4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9" name="Google Shape;419;p4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20" name="Google Shape;420;p4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1" name="Google Shape;421;p4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2" name="Google Shape;422;p4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3" name="Google Shape;423;p4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424" name="Google Shape;424;p47"/>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25" name="Google Shape;425;p47"/>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26" name="Google Shape;426;p47"/>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427" name="Shape 427"/>
        <p:cNvGrpSpPr/>
        <p:nvPr/>
      </p:nvGrpSpPr>
      <p:grpSpPr>
        <a:xfrm>
          <a:off x="0" y="0"/>
          <a:ext cx="0" cy="0"/>
          <a:chOff x="0" y="0"/>
          <a:chExt cx="0" cy="0"/>
        </a:xfrm>
      </p:grpSpPr>
      <p:sp>
        <p:nvSpPr>
          <p:cNvPr id="428" name="Google Shape;428;p48"/>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9" name="Google Shape;429;p48"/>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0" name="Google Shape;430;p48"/>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1" name="Google Shape;431;p48"/>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2" name="Google Shape;432;p48"/>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33" name="Google Shape;433;p4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4" name="Google Shape;434;p4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435" name="Shape 435"/>
        <p:cNvGrpSpPr/>
        <p:nvPr/>
      </p:nvGrpSpPr>
      <p:grpSpPr>
        <a:xfrm>
          <a:off x="0" y="0"/>
          <a:ext cx="0" cy="0"/>
          <a:chOff x="0" y="0"/>
          <a:chExt cx="0" cy="0"/>
        </a:xfrm>
      </p:grpSpPr>
      <p:sp>
        <p:nvSpPr>
          <p:cNvPr id="436" name="Google Shape;436;p49"/>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37" name="Google Shape;437;p49"/>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8" name="Google Shape;438;p49"/>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9" name="Google Shape;439;p49"/>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40" name="Google Shape;440;p49"/>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1" name="Google Shape;441;p49"/>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42" name="Google Shape;442;p49"/>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43" name="Google Shape;443;p4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4" name="Google Shape;444;p4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5" name="Google Shape;445;p4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6" name="Google Shape;446;p4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47" name="Shape 447"/>
        <p:cNvGrpSpPr/>
        <p:nvPr/>
      </p:nvGrpSpPr>
      <p:grpSpPr>
        <a:xfrm>
          <a:off x="0" y="0"/>
          <a:ext cx="0" cy="0"/>
          <a:chOff x="0" y="0"/>
          <a:chExt cx="0" cy="0"/>
        </a:xfrm>
      </p:grpSpPr>
      <p:sp>
        <p:nvSpPr>
          <p:cNvPr id="448" name="Google Shape;448;p50"/>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449" name="Google Shape;449;p50"/>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50" name="Google Shape;450;p50"/>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451" name="Google Shape;451;p5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2" name="Google Shape;452;p50"/>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53" name="Google Shape;453;p5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4" name="Google Shape;454;p50"/>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455"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7" name="Google Shape;457;p5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458"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0" name="Google Shape;460;p5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1" name="Google Shape;461;p52"/>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2" name="Google Shape;462;p52"/>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463"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5" name="Google Shape;465;p5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6" name="Google Shape;466;p53"/>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467"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9" name="Google Shape;469;p5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0" name="Google Shape;470;p5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1" name="Google Shape;471;p5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2" name="Google Shape;472;p5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3" name="Google Shape;473;p5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hyperlink" Target="https://www.geeksforgeeks.org/dbms/what-is-relationship-in-dbm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5"/>
          <p:cNvSpPr txBox="1"/>
          <p:nvPr>
            <p:ph type="ctrTitle"/>
          </p:nvPr>
        </p:nvSpPr>
        <p:spPr>
          <a:xfrm>
            <a:off x="1039975" y="1324500"/>
            <a:ext cx="70641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Session 2 part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78"/>
                                        </p:tgtEl>
                                        <p:attrNameLst>
                                          <p:attrName>style.visibility</p:attrName>
                                        </p:attrNameLst>
                                      </p:cBhvr>
                                      <p:to>
                                        <p:strVal val="visible"/>
                                      </p:to>
                                    </p:set>
                                    <p:anim calcmode="lin" valueType="num">
                                      <p:cBhvr additive="base">
                                        <p:cTn dur="1000"/>
                                        <p:tgtEl>
                                          <p:spTgt spid="47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6"/>
          <p:cNvSpPr txBox="1"/>
          <p:nvPr>
            <p:ph type="title"/>
          </p:nvPr>
        </p:nvSpPr>
        <p:spPr>
          <a:xfrm>
            <a:off x="867300" y="2366275"/>
            <a:ext cx="7409400" cy="81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4000"/>
              <a:t>Relationships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7" name="Shape 487"/>
        <p:cNvGrpSpPr/>
        <p:nvPr/>
      </p:nvGrpSpPr>
      <p:grpSpPr>
        <a:xfrm>
          <a:off x="0" y="0"/>
          <a:ext cx="0" cy="0"/>
          <a:chOff x="0" y="0"/>
          <a:chExt cx="0" cy="0"/>
        </a:xfrm>
      </p:grpSpPr>
      <p:sp>
        <p:nvSpPr>
          <p:cNvPr id="488" name="Google Shape;488;p57"/>
          <p:cNvSpPr txBox="1"/>
          <p:nvPr>
            <p:ph idx="2" type="subTitle"/>
          </p:nvPr>
        </p:nvSpPr>
        <p:spPr>
          <a:xfrm>
            <a:off x="925600" y="1790050"/>
            <a:ext cx="7313700" cy="2754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database relationships define how data in one table connects to data in another.</a:t>
            </a:r>
            <a:endParaRPr/>
          </a:p>
          <a:p>
            <a:pPr indent="-317500" lvl="0" marL="457200" rtl="0" algn="l">
              <a:spcBef>
                <a:spcPts val="0"/>
              </a:spcBef>
              <a:spcAft>
                <a:spcPts val="0"/>
              </a:spcAft>
              <a:buSzPts val="1400"/>
              <a:buChar char="●"/>
            </a:pPr>
            <a:r>
              <a:rPr lang="en"/>
              <a:t>A </a:t>
            </a:r>
            <a:r>
              <a:rPr lang="en" u="sng">
                <a:solidFill>
                  <a:schemeClr val="hlink"/>
                </a:solidFill>
                <a:hlinkClick r:id="rId3"/>
              </a:rPr>
              <a:t>relationship in a DBMS</a:t>
            </a:r>
            <a:r>
              <a:rPr lang="en"/>
              <a:t> exists when a variable has a connection with the properties stored in different tables.</a:t>
            </a:r>
            <a:endParaRPr/>
          </a:p>
          <a:p>
            <a:pPr indent="-317500" lvl="0" marL="457200" rtl="0" algn="l">
              <a:spcBef>
                <a:spcPts val="0"/>
              </a:spcBef>
              <a:spcAft>
                <a:spcPts val="0"/>
              </a:spcAft>
              <a:buSzPts val="1400"/>
              <a:buChar char="●"/>
            </a:pPr>
            <a:r>
              <a:rPr lang="en"/>
              <a:t> They're exhibited usually via keys in a table, which is either columns or fields that specify a distinctive arrangement for each record.</a:t>
            </a:r>
            <a:endParaRPr/>
          </a:p>
        </p:txBody>
      </p:sp>
      <p:sp>
        <p:nvSpPr>
          <p:cNvPr id="489" name="Google Shape;489;p57"/>
          <p:cNvSpPr txBox="1"/>
          <p:nvPr>
            <p:ph type="title"/>
          </p:nvPr>
        </p:nvSpPr>
        <p:spPr>
          <a:xfrm>
            <a:off x="1138300" y="430875"/>
            <a:ext cx="609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What Are Database Relationships?</a:t>
            </a:r>
            <a:endParaRPr b="1" sz="2400">
              <a:solidFill>
                <a:srgbClr val="090F1D"/>
              </a:solidFill>
              <a:highlight>
                <a:srgbClr val="FFFFFF"/>
              </a:highlight>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8"/>
          <p:cNvSpPr txBox="1"/>
          <p:nvPr>
            <p:ph type="title"/>
          </p:nvPr>
        </p:nvSpPr>
        <p:spPr>
          <a:xfrm>
            <a:off x="629425" y="2511700"/>
            <a:ext cx="8106000" cy="11133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800"/>
              </a:spcAft>
              <a:buClr>
                <a:schemeClr val="dk1"/>
              </a:buClr>
              <a:buSzPts val="1100"/>
              <a:buFont typeface="Arial"/>
              <a:buNone/>
            </a:pPr>
            <a:r>
              <a:rPr lang="en"/>
              <a:t> One-to-one (1:1) relationships</a:t>
            </a:r>
            <a:endParaRPr/>
          </a:p>
        </p:txBody>
      </p:sp>
      <p:sp>
        <p:nvSpPr>
          <p:cNvPr id="495" name="Google Shape;495;p58"/>
          <p:cNvSpPr txBox="1"/>
          <p:nvPr>
            <p:ph idx="1" type="subTitle"/>
          </p:nvPr>
        </p:nvSpPr>
        <p:spPr>
          <a:xfrm>
            <a:off x="831625" y="3625000"/>
            <a:ext cx="4561200" cy="39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94"/>
                                        </p:tgtEl>
                                        <p:attrNameLst>
                                          <p:attrName>style.visibility</p:attrName>
                                        </p:attrNameLst>
                                      </p:cBhvr>
                                      <p:to>
                                        <p:strVal val="visible"/>
                                      </p:to>
                                    </p:set>
                                    <p:anim calcmode="lin" valueType="num">
                                      <p:cBhvr additive="base">
                                        <p:cTn dur="1000"/>
                                        <p:tgtEl>
                                          <p:spTgt spid="49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495"/>
                                        </p:tgtEl>
                                        <p:attrNameLst>
                                          <p:attrName>style.visibility</p:attrName>
                                        </p:attrNameLst>
                                      </p:cBhvr>
                                      <p:to>
                                        <p:strVal val="visible"/>
                                      </p:to>
                                    </p:set>
                                    <p:anim calcmode="lin" valueType="num">
                                      <p:cBhvr additive="base">
                                        <p:cTn dur="1000"/>
                                        <p:tgtEl>
                                          <p:spTgt spid="49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9" name="Shape 499"/>
        <p:cNvGrpSpPr/>
        <p:nvPr/>
      </p:nvGrpSpPr>
      <p:grpSpPr>
        <a:xfrm>
          <a:off x="0" y="0"/>
          <a:ext cx="0" cy="0"/>
          <a:chOff x="0" y="0"/>
          <a:chExt cx="0" cy="0"/>
        </a:xfrm>
      </p:grpSpPr>
      <p:sp>
        <p:nvSpPr>
          <p:cNvPr id="500" name="Google Shape;500;p59"/>
          <p:cNvSpPr txBox="1"/>
          <p:nvPr>
            <p:ph idx="2" type="subTitle"/>
          </p:nvPr>
        </p:nvSpPr>
        <p:spPr>
          <a:xfrm>
            <a:off x="913925" y="1761725"/>
            <a:ext cx="7308900" cy="2754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A one-to-one relationship connects one record in a table to exactly one record in another table</a:t>
            </a:r>
            <a:endParaRPr/>
          </a:p>
          <a:p>
            <a:pPr indent="-317500" lvl="0" marL="457200" rtl="0" algn="l">
              <a:spcBef>
                <a:spcPts val="0"/>
              </a:spcBef>
              <a:spcAft>
                <a:spcPts val="0"/>
              </a:spcAft>
              <a:buSzPts val="1400"/>
              <a:buChar char="●"/>
            </a:pPr>
            <a:r>
              <a:rPr b="1" lang="en"/>
              <a:t>Use Case:</a:t>
            </a:r>
            <a:r>
              <a:rPr lang="en"/>
              <a:t> In a healthcare database, a "Patients" table may have a one-to-one relationship with a "Medical Records" table. Each patient is linked to a unique medical record, ensuring sensitive health information is stored separately.</a:t>
            </a:r>
            <a:endParaRPr sz="1200">
              <a:solidFill>
                <a:srgbClr val="0F1F3D"/>
              </a:solidFill>
              <a:highlight>
                <a:srgbClr val="FFFFFF"/>
              </a:highlight>
              <a:latin typeface="Arial"/>
              <a:ea typeface="Arial"/>
              <a:cs typeface="Arial"/>
              <a:sym typeface="Arial"/>
            </a:endParaRPr>
          </a:p>
        </p:txBody>
      </p:sp>
      <p:sp>
        <p:nvSpPr>
          <p:cNvPr id="501" name="Google Shape;501;p59"/>
          <p:cNvSpPr txBox="1"/>
          <p:nvPr>
            <p:ph type="title"/>
          </p:nvPr>
        </p:nvSpPr>
        <p:spPr>
          <a:xfrm>
            <a:off x="1138300" y="430875"/>
            <a:ext cx="6095100" cy="572700"/>
          </a:xfrm>
          <a:prstGeom prst="rect">
            <a:avLst/>
          </a:prstGeom>
        </p:spPr>
        <p:txBody>
          <a:bodyPr anchorCtr="0" anchor="t" bIns="91425" lIns="91425" spcFirstLastPara="1" rIns="91425" wrap="square" tIns="91425">
            <a:noAutofit/>
          </a:bodyPr>
          <a:lstStyle/>
          <a:p>
            <a:pPr indent="0" lvl="0" marL="0" rtl="0" algn="l">
              <a:lnSpc>
                <a:spcPct val="112000"/>
              </a:lnSpc>
              <a:spcBef>
                <a:spcPts val="0"/>
              </a:spcBef>
              <a:spcAft>
                <a:spcPts val="0"/>
              </a:spcAft>
              <a:buClr>
                <a:schemeClr val="dk1"/>
              </a:buClr>
              <a:buSzPts val="1100"/>
              <a:buFont typeface="Arial"/>
              <a:buNone/>
            </a:pPr>
            <a:r>
              <a:rPr lang="en" sz="4000"/>
              <a:t>One-to-one</a:t>
            </a:r>
            <a:endParaRPr b="1" sz="2400">
              <a:solidFill>
                <a:srgbClr val="090F1D"/>
              </a:solidFill>
              <a:highlight>
                <a:srgbClr val="FFFFFF"/>
              </a:highlight>
              <a:latin typeface="Arial"/>
              <a:ea typeface="Arial"/>
              <a:cs typeface="Arial"/>
              <a:sym typeface="Arial"/>
            </a:endParaRPr>
          </a:p>
          <a:p>
            <a:pPr indent="0" lvl="0" marL="0" rtl="0" algn="l">
              <a:spcBef>
                <a:spcPts val="8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5" name="Shape 505"/>
        <p:cNvGrpSpPr/>
        <p:nvPr/>
      </p:nvGrpSpPr>
      <p:grpSpPr>
        <a:xfrm>
          <a:off x="0" y="0"/>
          <a:ext cx="0" cy="0"/>
          <a:chOff x="0" y="0"/>
          <a:chExt cx="0" cy="0"/>
        </a:xfrm>
      </p:grpSpPr>
      <p:pic>
        <p:nvPicPr>
          <p:cNvPr id="506" name="Google Shape;506;p60"/>
          <p:cNvPicPr preferRelativeResize="0"/>
          <p:nvPr/>
        </p:nvPicPr>
        <p:blipFill>
          <a:blip r:embed="rId3">
            <a:alphaModFix/>
          </a:blip>
          <a:stretch>
            <a:fillRect/>
          </a:stretch>
        </p:blipFill>
        <p:spPr>
          <a:xfrm>
            <a:off x="650100" y="1114425"/>
            <a:ext cx="7524750" cy="2914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1"/>
          <p:cNvSpPr txBox="1"/>
          <p:nvPr>
            <p:ph type="title"/>
          </p:nvPr>
        </p:nvSpPr>
        <p:spPr>
          <a:xfrm>
            <a:off x="629425" y="2511700"/>
            <a:ext cx="8106000" cy="111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 One-to-many (1:N) </a:t>
            </a:r>
            <a:r>
              <a:rPr lang="en"/>
              <a:t>relationships</a:t>
            </a:r>
            <a:endParaRPr/>
          </a:p>
        </p:txBody>
      </p:sp>
      <p:sp>
        <p:nvSpPr>
          <p:cNvPr id="512" name="Google Shape;512;p61"/>
          <p:cNvSpPr txBox="1"/>
          <p:nvPr>
            <p:ph idx="1" type="subTitle"/>
          </p:nvPr>
        </p:nvSpPr>
        <p:spPr>
          <a:xfrm>
            <a:off x="831625" y="3625000"/>
            <a:ext cx="4561200" cy="39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11"/>
                                        </p:tgtEl>
                                        <p:attrNameLst>
                                          <p:attrName>style.visibility</p:attrName>
                                        </p:attrNameLst>
                                      </p:cBhvr>
                                      <p:to>
                                        <p:strVal val="visible"/>
                                      </p:to>
                                    </p:set>
                                    <p:anim calcmode="lin" valueType="num">
                                      <p:cBhvr additive="base">
                                        <p:cTn dur="1000"/>
                                        <p:tgtEl>
                                          <p:spTgt spid="51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12"/>
                                        </p:tgtEl>
                                        <p:attrNameLst>
                                          <p:attrName>style.visibility</p:attrName>
                                        </p:attrNameLst>
                                      </p:cBhvr>
                                      <p:to>
                                        <p:strVal val="visible"/>
                                      </p:to>
                                    </p:set>
                                    <p:anim calcmode="lin" valueType="num">
                                      <p:cBhvr additive="base">
                                        <p:cTn dur="1000"/>
                                        <p:tgtEl>
                                          <p:spTgt spid="51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6" name="Shape 516"/>
        <p:cNvGrpSpPr/>
        <p:nvPr/>
      </p:nvGrpSpPr>
      <p:grpSpPr>
        <a:xfrm>
          <a:off x="0" y="0"/>
          <a:ext cx="0" cy="0"/>
          <a:chOff x="0" y="0"/>
          <a:chExt cx="0" cy="0"/>
        </a:xfrm>
      </p:grpSpPr>
      <p:sp>
        <p:nvSpPr>
          <p:cNvPr id="517" name="Google Shape;517;p62"/>
          <p:cNvSpPr txBox="1"/>
          <p:nvPr>
            <p:ph idx="2" type="subTitle"/>
          </p:nvPr>
        </p:nvSpPr>
        <p:spPr>
          <a:xfrm>
            <a:off x="913925" y="1761725"/>
            <a:ext cx="7308900" cy="2754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In a one-to-many relationship, a single record in one table can be associated with multiple records in another table. This is one of the most common relationship types in relational databases.</a:t>
            </a:r>
            <a:endParaRPr/>
          </a:p>
          <a:p>
            <a:pPr indent="-317500" lvl="0" marL="457200" rtl="0" algn="l">
              <a:spcBef>
                <a:spcPts val="0"/>
              </a:spcBef>
              <a:spcAft>
                <a:spcPts val="0"/>
              </a:spcAft>
              <a:buSzPts val="1400"/>
              <a:buChar char="●"/>
            </a:pPr>
            <a:r>
              <a:rPr b="1" lang="en"/>
              <a:t>Use case:</a:t>
            </a:r>
            <a:r>
              <a:rPr lang="en"/>
              <a:t> An "Authors" table might connect to a "Books" table, where each author can have multiple books attributed to them.</a:t>
            </a:r>
            <a:endParaRPr/>
          </a:p>
          <a:p>
            <a:pPr indent="0" lvl="0" marL="457200" rtl="0" algn="l">
              <a:spcBef>
                <a:spcPts val="0"/>
              </a:spcBef>
              <a:spcAft>
                <a:spcPts val="0"/>
              </a:spcAft>
              <a:buNone/>
            </a:pPr>
            <a:r>
              <a:t/>
            </a:r>
            <a:endParaRPr/>
          </a:p>
        </p:txBody>
      </p:sp>
      <p:sp>
        <p:nvSpPr>
          <p:cNvPr id="518" name="Google Shape;518;p62"/>
          <p:cNvSpPr txBox="1"/>
          <p:nvPr>
            <p:ph type="title"/>
          </p:nvPr>
        </p:nvSpPr>
        <p:spPr>
          <a:xfrm>
            <a:off x="1138300" y="430875"/>
            <a:ext cx="609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000"/>
              <a:t>One-to-many</a:t>
            </a:r>
            <a:endParaRPr b="1" sz="2400">
              <a:solidFill>
                <a:srgbClr val="090F1D"/>
              </a:solidFill>
              <a:highlight>
                <a:srgbClr val="FFFFFF"/>
              </a:highlight>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2" name="Shape 522"/>
        <p:cNvGrpSpPr/>
        <p:nvPr/>
      </p:nvGrpSpPr>
      <p:grpSpPr>
        <a:xfrm>
          <a:off x="0" y="0"/>
          <a:ext cx="0" cy="0"/>
          <a:chOff x="0" y="0"/>
          <a:chExt cx="0" cy="0"/>
        </a:xfrm>
      </p:grpSpPr>
      <p:pic>
        <p:nvPicPr>
          <p:cNvPr id="523" name="Google Shape;523;p63"/>
          <p:cNvPicPr preferRelativeResize="0"/>
          <p:nvPr/>
        </p:nvPicPr>
        <p:blipFill>
          <a:blip r:embed="rId3">
            <a:alphaModFix/>
          </a:blip>
          <a:stretch>
            <a:fillRect/>
          </a:stretch>
        </p:blipFill>
        <p:spPr>
          <a:xfrm>
            <a:off x="1090613" y="1238250"/>
            <a:ext cx="6962775" cy="2667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4"/>
          <p:cNvSpPr txBox="1"/>
          <p:nvPr>
            <p:ph type="title"/>
          </p:nvPr>
        </p:nvSpPr>
        <p:spPr>
          <a:xfrm>
            <a:off x="629425" y="2511700"/>
            <a:ext cx="8106000" cy="1113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a:t> Many-to-many (N: N) relationships</a:t>
            </a:r>
            <a:endParaRPr/>
          </a:p>
          <a:p>
            <a:pPr indent="0" lvl="0" marL="0" rtl="0" algn="l">
              <a:lnSpc>
                <a:spcPct val="112000"/>
              </a:lnSpc>
              <a:spcBef>
                <a:spcPts val="0"/>
              </a:spcBef>
              <a:spcAft>
                <a:spcPts val="800"/>
              </a:spcAft>
              <a:buClr>
                <a:schemeClr val="dk1"/>
              </a:buClr>
              <a:buSzPts val="1100"/>
              <a:buFont typeface="Arial"/>
              <a:buNone/>
            </a:pPr>
            <a:r>
              <a:t/>
            </a:r>
            <a:endParaRPr/>
          </a:p>
        </p:txBody>
      </p:sp>
      <p:sp>
        <p:nvSpPr>
          <p:cNvPr id="529" name="Google Shape;529;p64"/>
          <p:cNvSpPr txBox="1"/>
          <p:nvPr>
            <p:ph idx="1" type="subTitle"/>
          </p:nvPr>
        </p:nvSpPr>
        <p:spPr>
          <a:xfrm>
            <a:off x="831625" y="3625000"/>
            <a:ext cx="4561200" cy="39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8"/>
                                        </p:tgtEl>
                                        <p:attrNameLst>
                                          <p:attrName>style.visibility</p:attrName>
                                        </p:attrNameLst>
                                      </p:cBhvr>
                                      <p:to>
                                        <p:strVal val="visible"/>
                                      </p:to>
                                    </p:set>
                                    <p:anim calcmode="lin" valueType="num">
                                      <p:cBhvr additive="base">
                                        <p:cTn dur="1000"/>
                                        <p:tgtEl>
                                          <p:spTgt spid="52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529"/>
                                        </p:tgtEl>
                                        <p:attrNameLst>
                                          <p:attrName>style.visibility</p:attrName>
                                        </p:attrNameLst>
                                      </p:cBhvr>
                                      <p:to>
                                        <p:strVal val="visible"/>
                                      </p:to>
                                    </p:set>
                                    <p:anim calcmode="lin" valueType="num">
                                      <p:cBhvr additive="base">
                                        <p:cTn dur="1000"/>
                                        <p:tgtEl>
                                          <p:spTgt spid="52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3" name="Shape 533"/>
        <p:cNvGrpSpPr/>
        <p:nvPr/>
      </p:nvGrpSpPr>
      <p:grpSpPr>
        <a:xfrm>
          <a:off x="0" y="0"/>
          <a:ext cx="0" cy="0"/>
          <a:chOff x="0" y="0"/>
          <a:chExt cx="0" cy="0"/>
        </a:xfrm>
      </p:grpSpPr>
      <p:sp>
        <p:nvSpPr>
          <p:cNvPr id="534" name="Google Shape;534;p65"/>
          <p:cNvSpPr txBox="1"/>
          <p:nvPr>
            <p:ph idx="2" type="subTitle"/>
          </p:nvPr>
        </p:nvSpPr>
        <p:spPr>
          <a:xfrm>
            <a:off x="913925" y="1761725"/>
            <a:ext cx="7308900" cy="2754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A many-to-many relationship occurs when multiple records in one table are related to multiple records in another table. This is implemented using a junction table to manage the connections.</a:t>
            </a:r>
            <a:endParaRPr/>
          </a:p>
          <a:p>
            <a:pPr indent="-317500" lvl="0" marL="457200" rtl="0" algn="l">
              <a:spcBef>
                <a:spcPts val="0"/>
              </a:spcBef>
              <a:spcAft>
                <a:spcPts val="0"/>
              </a:spcAft>
              <a:buSzPts val="1400"/>
              <a:buChar char="●"/>
            </a:pPr>
            <a:r>
              <a:rPr b="1" lang="en"/>
              <a:t>Use case</a:t>
            </a:r>
            <a:r>
              <a:rPr lang="en"/>
              <a:t>: In an education system, students can enroll in multiple courses, and each course can have multiple students. A "Student-Course" junction table is used to connect the "Students" and "Courses" tables.</a:t>
            </a:r>
            <a:endParaRPr/>
          </a:p>
          <a:p>
            <a:pPr indent="0" lvl="0" marL="0" marR="0" rtl="0" algn="l">
              <a:lnSpc>
                <a:spcPct val="160000"/>
              </a:lnSpc>
              <a:spcBef>
                <a:spcPts val="0"/>
              </a:spcBef>
              <a:spcAft>
                <a:spcPts val="0"/>
              </a:spcAft>
              <a:buNone/>
            </a:pPr>
            <a:r>
              <a:t/>
            </a:r>
            <a:endParaRPr sz="1200">
              <a:solidFill>
                <a:srgbClr val="0F1F3D"/>
              </a:solidFill>
              <a:highlight>
                <a:srgbClr val="FFFFFF"/>
              </a:highlight>
              <a:latin typeface="Arial"/>
              <a:ea typeface="Arial"/>
              <a:cs typeface="Arial"/>
              <a:sym typeface="Arial"/>
            </a:endParaRPr>
          </a:p>
          <a:p>
            <a:pPr indent="0" lvl="0" marL="457200" rtl="0" algn="l">
              <a:spcBef>
                <a:spcPts val="800"/>
              </a:spcBef>
              <a:spcAft>
                <a:spcPts val="0"/>
              </a:spcAft>
              <a:buNone/>
            </a:pPr>
            <a:r>
              <a:t/>
            </a:r>
            <a:endParaRPr/>
          </a:p>
        </p:txBody>
      </p:sp>
      <p:sp>
        <p:nvSpPr>
          <p:cNvPr id="535" name="Google Shape;535;p65"/>
          <p:cNvSpPr txBox="1"/>
          <p:nvPr>
            <p:ph type="title"/>
          </p:nvPr>
        </p:nvSpPr>
        <p:spPr>
          <a:xfrm>
            <a:off x="1138300" y="430875"/>
            <a:ext cx="609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000"/>
              <a:t>Many-to-many</a:t>
            </a:r>
            <a:endParaRPr b="1" sz="2400">
              <a:solidFill>
                <a:srgbClr val="090F1D"/>
              </a:solidFill>
              <a:highlight>
                <a:srgbClr val="FFFFFF"/>
              </a:highlight>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9" name="Shape 539"/>
        <p:cNvGrpSpPr/>
        <p:nvPr/>
      </p:nvGrpSpPr>
      <p:grpSpPr>
        <a:xfrm>
          <a:off x="0" y="0"/>
          <a:ext cx="0" cy="0"/>
          <a:chOff x="0" y="0"/>
          <a:chExt cx="0" cy="0"/>
        </a:xfrm>
      </p:grpSpPr>
      <p:pic>
        <p:nvPicPr>
          <p:cNvPr id="540" name="Google Shape;540;p66"/>
          <p:cNvPicPr preferRelativeResize="0"/>
          <p:nvPr/>
        </p:nvPicPr>
        <p:blipFill>
          <a:blip r:embed="rId3">
            <a:alphaModFix/>
          </a:blip>
          <a:stretch>
            <a:fillRect/>
          </a:stretch>
        </p:blipFill>
        <p:spPr>
          <a:xfrm>
            <a:off x="560000" y="371550"/>
            <a:ext cx="3751025" cy="1855350"/>
          </a:xfrm>
          <a:prstGeom prst="rect">
            <a:avLst/>
          </a:prstGeom>
          <a:noFill/>
          <a:ln>
            <a:noFill/>
          </a:ln>
        </p:spPr>
      </p:pic>
      <p:pic>
        <p:nvPicPr>
          <p:cNvPr id="541" name="Google Shape;541;p66"/>
          <p:cNvPicPr preferRelativeResize="0"/>
          <p:nvPr/>
        </p:nvPicPr>
        <p:blipFill>
          <a:blip r:embed="rId4">
            <a:alphaModFix/>
          </a:blip>
          <a:stretch>
            <a:fillRect/>
          </a:stretch>
        </p:blipFill>
        <p:spPr>
          <a:xfrm>
            <a:off x="560000" y="2758450"/>
            <a:ext cx="3894025" cy="1791250"/>
          </a:xfrm>
          <a:prstGeom prst="rect">
            <a:avLst/>
          </a:prstGeom>
          <a:noFill/>
          <a:ln>
            <a:noFill/>
          </a:ln>
        </p:spPr>
      </p:pic>
      <p:pic>
        <p:nvPicPr>
          <p:cNvPr id="542" name="Google Shape;542;p66"/>
          <p:cNvPicPr preferRelativeResize="0"/>
          <p:nvPr/>
        </p:nvPicPr>
        <p:blipFill>
          <a:blip r:embed="rId5">
            <a:alphaModFix/>
          </a:blip>
          <a:stretch>
            <a:fillRect/>
          </a:stretch>
        </p:blipFill>
        <p:spPr>
          <a:xfrm>
            <a:off x="4921150" y="1072550"/>
            <a:ext cx="3454575" cy="2579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6" name="Shape 546"/>
        <p:cNvGrpSpPr/>
        <p:nvPr/>
      </p:nvGrpSpPr>
      <p:grpSpPr>
        <a:xfrm>
          <a:off x="0" y="0"/>
          <a:ext cx="0" cy="0"/>
          <a:chOff x="0" y="0"/>
          <a:chExt cx="0" cy="0"/>
        </a:xfrm>
      </p:grpSpPr>
      <p:pic>
        <p:nvPicPr>
          <p:cNvPr id="547" name="Google Shape;547;p67"/>
          <p:cNvPicPr preferRelativeResize="0"/>
          <p:nvPr/>
        </p:nvPicPr>
        <p:blipFill>
          <a:blip r:embed="rId3">
            <a:alphaModFix/>
          </a:blip>
          <a:stretch>
            <a:fillRect/>
          </a:stretch>
        </p:blipFill>
        <p:spPr>
          <a:xfrm>
            <a:off x="481013" y="1255775"/>
            <a:ext cx="8181975" cy="2809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8"/>
          <p:cNvSpPr txBox="1"/>
          <p:nvPr>
            <p:ph type="title"/>
          </p:nvPr>
        </p:nvSpPr>
        <p:spPr>
          <a:xfrm>
            <a:off x="867300" y="2366275"/>
            <a:ext cx="7409400" cy="81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4000"/>
              <a:t>NORMALIZATION</a:t>
            </a:r>
            <a:endParaRPr/>
          </a:p>
        </p:txBody>
      </p:sp>
      <p:sp>
        <p:nvSpPr>
          <p:cNvPr id="553" name="Google Shape;553;p68"/>
          <p:cNvSpPr txBox="1"/>
          <p:nvPr>
            <p:ph idx="1" type="subTitle"/>
          </p:nvPr>
        </p:nvSpPr>
        <p:spPr>
          <a:xfrm>
            <a:off x="2291400" y="3305275"/>
            <a:ext cx="4561200" cy="39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the process of structuring a relational database to reduce data redundancy and improve data integrity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7" name="Shape 557"/>
        <p:cNvGrpSpPr/>
        <p:nvPr/>
      </p:nvGrpSpPr>
      <p:grpSpPr>
        <a:xfrm>
          <a:off x="0" y="0"/>
          <a:ext cx="0" cy="0"/>
          <a:chOff x="0" y="0"/>
          <a:chExt cx="0" cy="0"/>
        </a:xfrm>
      </p:grpSpPr>
      <p:pic>
        <p:nvPicPr>
          <p:cNvPr id="558" name="Google Shape;558;p69"/>
          <p:cNvPicPr preferRelativeResize="0"/>
          <p:nvPr/>
        </p:nvPicPr>
        <p:blipFill>
          <a:blip r:embed="rId3">
            <a:alphaModFix/>
          </a:blip>
          <a:stretch>
            <a:fillRect/>
          </a:stretch>
        </p:blipFill>
        <p:spPr>
          <a:xfrm>
            <a:off x="457200" y="999900"/>
            <a:ext cx="8229600" cy="3000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2" name="Shape 562"/>
        <p:cNvGrpSpPr/>
        <p:nvPr/>
      </p:nvGrpSpPr>
      <p:grpSpPr>
        <a:xfrm>
          <a:off x="0" y="0"/>
          <a:ext cx="0" cy="0"/>
          <a:chOff x="0" y="0"/>
          <a:chExt cx="0" cy="0"/>
        </a:xfrm>
      </p:grpSpPr>
      <p:sp>
        <p:nvSpPr>
          <p:cNvPr id="563" name="Google Shape;563;p70"/>
          <p:cNvSpPr txBox="1"/>
          <p:nvPr>
            <p:ph idx="2" type="subTitle"/>
          </p:nvPr>
        </p:nvSpPr>
        <p:spPr>
          <a:xfrm>
            <a:off x="913925" y="1761725"/>
            <a:ext cx="7308900" cy="27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a table to be in the first normal form, it must meet the following criteria:</a:t>
            </a:r>
            <a:endParaRPr/>
          </a:p>
          <a:p>
            <a:pPr indent="-317500" lvl="0" marL="457200" rtl="0" algn="l">
              <a:spcBef>
                <a:spcPts val="0"/>
              </a:spcBef>
              <a:spcAft>
                <a:spcPts val="0"/>
              </a:spcAft>
              <a:buSzPts val="1400"/>
              <a:buChar char="●"/>
            </a:pPr>
            <a:r>
              <a:rPr lang="en"/>
              <a:t>a single cell must not hold more than one value (atomicity)</a:t>
            </a:r>
            <a:endParaRPr/>
          </a:p>
          <a:p>
            <a:pPr indent="-317500" lvl="0" marL="457200" rtl="0" algn="l">
              <a:spcBef>
                <a:spcPts val="0"/>
              </a:spcBef>
              <a:spcAft>
                <a:spcPts val="0"/>
              </a:spcAft>
              <a:buSzPts val="1400"/>
              <a:buChar char="●"/>
            </a:pPr>
            <a:r>
              <a:rPr lang="en"/>
              <a:t>there must be a primary key for identification</a:t>
            </a:r>
            <a:endParaRPr/>
          </a:p>
          <a:p>
            <a:pPr indent="-317500" lvl="0" marL="457200" rtl="0" algn="l">
              <a:spcBef>
                <a:spcPts val="0"/>
              </a:spcBef>
              <a:spcAft>
                <a:spcPts val="0"/>
              </a:spcAft>
              <a:buSzPts val="1400"/>
              <a:buChar char="●"/>
            </a:pPr>
            <a:r>
              <a:rPr lang="en"/>
              <a:t>no duplicated rows or columns</a:t>
            </a:r>
            <a:endParaRPr/>
          </a:p>
          <a:p>
            <a:pPr indent="-317500" lvl="0" marL="457200" rtl="0" algn="l">
              <a:spcBef>
                <a:spcPts val="0"/>
              </a:spcBef>
              <a:spcAft>
                <a:spcPts val="0"/>
              </a:spcAft>
              <a:buSzPts val="1400"/>
              <a:buChar char="●"/>
            </a:pPr>
            <a:r>
              <a:rPr lang="en"/>
              <a:t>each column must have only one value for each row in the table</a:t>
            </a:r>
            <a:endParaRPr/>
          </a:p>
          <a:p>
            <a:pPr indent="0" lvl="0" marL="457200" rtl="0" algn="l">
              <a:spcBef>
                <a:spcPts val="0"/>
              </a:spcBef>
              <a:spcAft>
                <a:spcPts val="0"/>
              </a:spcAft>
              <a:buNone/>
            </a:pPr>
            <a:r>
              <a:t/>
            </a:r>
            <a:endParaRPr b="1"/>
          </a:p>
          <a:p>
            <a:pPr indent="0" lvl="0" marL="457200" rtl="0" algn="l">
              <a:spcBef>
                <a:spcPts val="0"/>
              </a:spcBef>
              <a:spcAft>
                <a:spcPts val="0"/>
              </a:spcAft>
              <a:buNone/>
            </a:pPr>
            <a:r>
              <a:t/>
            </a:r>
            <a:endParaRPr b="1"/>
          </a:p>
          <a:p>
            <a:pPr indent="0" lvl="0" marL="0" rtl="0" algn="l">
              <a:spcBef>
                <a:spcPts val="0"/>
              </a:spcBef>
              <a:spcAft>
                <a:spcPts val="0"/>
              </a:spcAft>
              <a:buNone/>
            </a:pPr>
            <a:r>
              <a:t/>
            </a:r>
            <a:endParaRPr i="1"/>
          </a:p>
          <a:p>
            <a:pPr indent="0" lvl="0" marL="457200" rtl="0" algn="l">
              <a:spcBef>
                <a:spcPts val="0"/>
              </a:spcBef>
              <a:spcAft>
                <a:spcPts val="0"/>
              </a:spcAft>
              <a:buNone/>
            </a:pPr>
            <a:r>
              <a:t/>
            </a:r>
            <a:endParaRPr/>
          </a:p>
          <a:p>
            <a:pPr indent="0" lvl="0" marL="0" marR="0" rtl="0" algn="l">
              <a:lnSpc>
                <a:spcPct val="160000"/>
              </a:lnSpc>
              <a:spcBef>
                <a:spcPts val="0"/>
              </a:spcBef>
              <a:spcAft>
                <a:spcPts val="0"/>
              </a:spcAft>
              <a:buNone/>
            </a:pPr>
            <a:r>
              <a:t/>
            </a:r>
            <a:endParaRPr sz="1200">
              <a:solidFill>
                <a:srgbClr val="0F1F3D"/>
              </a:solidFill>
              <a:highlight>
                <a:srgbClr val="FFFFFF"/>
              </a:highlight>
              <a:latin typeface="Arial"/>
              <a:ea typeface="Arial"/>
              <a:cs typeface="Arial"/>
              <a:sym typeface="Arial"/>
            </a:endParaRPr>
          </a:p>
          <a:p>
            <a:pPr indent="0" lvl="0" marL="457200" rtl="0" algn="l">
              <a:spcBef>
                <a:spcPts val="800"/>
              </a:spcBef>
              <a:spcAft>
                <a:spcPts val="0"/>
              </a:spcAft>
              <a:buNone/>
            </a:pPr>
            <a:r>
              <a:t/>
            </a:r>
            <a:endParaRPr/>
          </a:p>
        </p:txBody>
      </p:sp>
      <p:sp>
        <p:nvSpPr>
          <p:cNvPr id="564" name="Google Shape;564;p70"/>
          <p:cNvSpPr txBox="1"/>
          <p:nvPr>
            <p:ph type="title"/>
          </p:nvPr>
        </p:nvSpPr>
        <p:spPr>
          <a:xfrm>
            <a:off x="1138300" y="430875"/>
            <a:ext cx="609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First Normal Form – 1NF</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8" name="Shape 568"/>
        <p:cNvGrpSpPr/>
        <p:nvPr/>
      </p:nvGrpSpPr>
      <p:grpSpPr>
        <a:xfrm>
          <a:off x="0" y="0"/>
          <a:ext cx="0" cy="0"/>
          <a:chOff x="0" y="0"/>
          <a:chExt cx="0" cy="0"/>
        </a:xfrm>
      </p:grpSpPr>
      <p:pic>
        <p:nvPicPr>
          <p:cNvPr id="569" name="Google Shape;569;p71"/>
          <p:cNvPicPr preferRelativeResize="0"/>
          <p:nvPr/>
        </p:nvPicPr>
        <p:blipFill>
          <a:blip r:embed="rId3">
            <a:alphaModFix/>
          </a:blip>
          <a:stretch>
            <a:fillRect/>
          </a:stretch>
        </p:blipFill>
        <p:spPr>
          <a:xfrm>
            <a:off x="228600" y="1095375"/>
            <a:ext cx="8686800" cy="2952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3" name="Shape 573"/>
        <p:cNvGrpSpPr/>
        <p:nvPr/>
      </p:nvGrpSpPr>
      <p:grpSpPr>
        <a:xfrm>
          <a:off x="0" y="0"/>
          <a:ext cx="0" cy="0"/>
          <a:chOff x="0" y="0"/>
          <a:chExt cx="0" cy="0"/>
        </a:xfrm>
      </p:grpSpPr>
      <p:pic>
        <p:nvPicPr>
          <p:cNvPr id="574" name="Google Shape;574;p72"/>
          <p:cNvPicPr preferRelativeResize="0"/>
          <p:nvPr/>
        </p:nvPicPr>
        <p:blipFill>
          <a:blip r:embed="rId3">
            <a:alphaModFix/>
          </a:blip>
          <a:stretch>
            <a:fillRect/>
          </a:stretch>
        </p:blipFill>
        <p:spPr>
          <a:xfrm>
            <a:off x="343438" y="361888"/>
            <a:ext cx="8457124" cy="4419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8" name="Shape 578"/>
        <p:cNvGrpSpPr/>
        <p:nvPr/>
      </p:nvGrpSpPr>
      <p:grpSpPr>
        <a:xfrm>
          <a:off x="0" y="0"/>
          <a:ext cx="0" cy="0"/>
          <a:chOff x="0" y="0"/>
          <a:chExt cx="0" cy="0"/>
        </a:xfrm>
      </p:grpSpPr>
      <p:sp>
        <p:nvSpPr>
          <p:cNvPr id="579" name="Google Shape;579;p73"/>
          <p:cNvSpPr txBox="1"/>
          <p:nvPr>
            <p:ph idx="2" type="subTitle"/>
          </p:nvPr>
        </p:nvSpPr>
        <p:spPr>
          <a:xfrm>
            <a:off x="913925" y="1761725"/>
            <a:ext cx="7308900" cy="27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table is said to be in 2NF if it meets the following criteria:</a:t>
            </a:r>
            <a:endParaRPr/>
          </a:p>
          <a:p>
            <a:pPr indent="-317500" lvl="0" marL="457200" rtl="0" algn="l">
              <a:spcBef>
                <a:spcPts val="0"/>
              </a:spcBef>
              <a:spcAft>
                <a:spcPts val="0"/>
              </a:spcAft>
              <a:buSzPts val="1400"/>
              <a:buChar char="●"/>
            </a:pPr>
            <a:r>
              <a:rPr lang="en"/>
              <a:t>it’s already in 1NF</a:t>
            </a:r>
            <a:endParaRPr/>
          </a:p>
          <a:p>
            <a:pPr indent="-317500" lvl="0" marL="457200" rtl="0" algn="l">
              <a:spcBef>
                <a:spcPts val="0"/>
              </a:spcBef>
              <a:spcAft>
                <a:spcPts val="0"/>
              </a:spcAft>
              <a:buSzPts val="1400"/>
              <a:buChar char="●"/>
            </a:pPr>
            <a:r>
              <a:rPr lang="en"/>
              <a:t>has no partial dependency. That is, all non-key attributes are fully dependent on a primary key.</a:t>
            </a:r>
            <a:endParaRPr/>
          </a:p>
          <a:p>
            <a:pPr indent="0" lvl="0" marL="457200" rtl="0" algn="l">
              <a:spcBef>
                <a:spcPts val="0"/>
              </a:spcBef>
              <a:spcAft>
                <a:spcPts val="0"/>
              </a:spcAft>
              <a:buNone/>
            </a:pPr>
            <a:r>
              <a:t/>
            </a:r>
            <a:endParaRPr b="1"/>
          </a:p>
          <a:p>
            <a:pPr indent="0" lvl="0" marL="457200" rtl="0" algn="l">
              <a:spcBef>
                <a:spcPts val="0"/>
              </a:spcBef>
              <a:spcAft>
                <a:spcPts val="0"/>
              </a:spcAft>
              <a:buNone/>
            </a:pPr>
            <a:r>
              <a:t/>
            </a:r>
            <a:endParaRPr b="1"/>
          </a:p>
          <a:p>
            <a:pPr indent="0" lvl="0" marL="0" rtl="0" algn="l">
              <a:spcBef>
                <a:spcPts val="0"/>
              </a:spcBef>
              <a:spcAft>
                <a:spcPts val="0"/>
              </a:spcAft>
              <a:buNone/>
            </a:pPr>
            <a:r>
              <a:t/>
            </a:r>
            <a:endParaRPr i="1"/>
          </a:p>
          <a:p>
            <a:pPr indent="0" lvl="0" marL="457200" rtl="0" algn="l">
              <a:spcBef>
                <a:spcPts val="0"/>
              </a:spcBef>
              <a:spcAft>
                <a:spcPts val="0"/>
              </a:spcAft>
              <a:buNone/>
            </a:pPr>
            <a:r>
              <a:t/>
            </a:r>
            <a:endParaRPr/>
          </a:p>
          <a:p>
            <a:pPr indent="0" lvl="0" marL="0" marR="0" rtl="0" algn="l">
              <a:lnSpc>
                <a:spcPct val="160000"/>
              </a:lnSpc>
              <a:spcBef>
                <a:spcPts val="0"/>
              </a:spcBef>
              <a:spcAft>
                <a:spcPts val="0"/>
              </a:spcAft>
              <a:buNone/>
            </a:pPr>
            <a:r>
              <a:t/>
            </a:r>
            <a:endParaRPr sz="1200">
              <a:solidFill>
                <a:srgbClr val="0F1F3D"/>
              </a:solidFill>
              <a:highlight>
                <a:srgbClr val="FFFFFF"/>
              </a:highlight>
              <a:latin typeface="Arial"/>
              <a:ea typeface="Arial"/>
              <a:cs typeface="Arial"/>
              <a:sym typeface="Arial"/>
            </a:endParaRPr>
          </a:p>
          <a:p>
            <a:pPr indent="0" lvl="0" marL="457200" rtl="0" algn="l">
              <a:spcBef>
                <a:spcPts val="800"/>
              </a:spcBef>
              <a:spcAft>
                <a:spcPts val="0"/>
              </a:spcAft>
              <a:buNone/>
            </a:pPr>
            <a:r>
              <a:t/>
            </a:r>
            <a:endParaRPr/>
          </a:p>
        </p:txBody>
      </p:sp>
      <p:sp>
        <p:nvSpPr>
          <p:cNvPr id="580" name="Google Shape;580;p73"/>
          <p:cNvSpPr txBox="1"/>
          <p:nvPr>
            <p:ph type="title"/>
          </p:nvPr>
        </p:nvSpPr>
        <p:spPr>
          <a:xfrm>
            <a:off x="1138300" y="430875"/>
            <a:ext cx="609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Second Normal Form – 2NF</a:t>
            </a:r>
            <a:endParaRPr b="1" sz="1300">
              <a:solidFill>
                <a:srgbClr val="1B1B32"/>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4" name="Shape 584"/>
        <p:cNvGrpSpPr/>
        <p:nvPr/>
      </p:nvGrpSpPr>
      <p:grpSpPr>
        <a:xfrm>
          <a:off x="0" y="0"/>
          <a:ext cx="0" cy="0"/>
          <a:chOff x="0" y="0"/>
          <a:chExt cx="0" cy="0"/>
        </a:xfrm>
      </p:grpSpPr>
      <p:pic>
        <p:nvPicPr>
          <p:cNvPr id="585" name="Google Shape;585;p74"/>
          <p:cNvPicPr preferRelativeResize="0"/>
          <p:nvPr/>
        </p:nvPicPr>
        <p:blipFill>
          <a:blip r:embed="rId3">
            <a:alphaModFix/>
          </a:blip>
          <a:stretch>
            <a:fillRect/>
          </a:stretch>
        </p:blipFill>
        <p:spPr>
          <a:xfrm>
            <a:off x="171450" y="722275"/>
            <a:ext cx="8801100" cy="3076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9" name="Shape 589"/>
        <p:cNvGrpSpPr/>
        <p:nvPr/>
      </p:nvGrpSpPr>
      <p:grpSpPr>
        <a:xfrm>
          <a:off x="0" y="0"/>
          <a:ext cx="0" cy="0"/>
          <a:chOff x="0" y="0"/>
          <a:chExt cx="0" cy="0"/>
        </a:xfrm>
      </p:grpSpPr>
      <p:pic>
        <p:nvPicPr>
          <p:cNvPr id="590" name="Google Shape;590;p75"/>
          <p:cNvPicPr preferRelativeResize="0"/>
          <p:nvPr/>
        </p:nvPicPr>
        <p:blipFill>
          <a:blip r:embed="rId3">
            <a:alphaModFix/>
          </a:blip>
          <a:stretch>
            <a:fillRect/>
          </a:stretch>
        </p:blipFill>
        <p:spPr>
          <a:xfrm>
            <a:off x="819138" y="210850"/>
            <a:ext cx="7505700" cy="2057400"/>
          </a:xfrm>
          <a:prstGeom prst="rect">
            <a:avLst/>
          </a:prstGeom>
          <a:noFill/>
          <a:ln>
            <a:noFill/>
          </a:ln>
        </p:spPr>
      </p:pic>
      <p:pic>
        <p:nvPicPr>
          <p:cNvPr id="591" name="Google Shape;591;p75"/>
          <p:cNvPicPr preferRelativeResize="0"/>
          <p:nvPr/>
        </p:nvPicPr>
        <p:blipFill>
          <a:blip r:embed="rId4">
            <a:alphaModFix/>
          </a:blip>
          <a:stretch>
            <a:fillRect/>
          </a:stretch>
        </p:blipFill>
        <p:spPr>
          <a:xfrm>
            <a:off x="450038" y="2362200"/>
            <a:ext cx="8243937" cy="2628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5" name="Shape 595"/>
        <p:cNvGrpSpPr/>
        <p:nvPr/>
      </p:nvGrpSpPr>
      <p:grpSpPr>
        <a:xfrm>
          <a:off x="0" y="0"/>
          <a:ext cx="0" cy="0"/>
          <a:chOff x="0" y="0"/>
          <a:chExt cx="0" cy="0"/>
        </a:xfrm>
      </p:grpSpPr>
      <p:sp>
        <p:nvSpPr>
          <p:cNvPr id="596" name="Google Shape;596;p76"/>
          <p:cNvSpPr txBox="1"/>
          <p:nvPr>
            <p:ph idx="2" type="subTitle"/>
          </p:nvPr>
        </p:nvSpPr>
        <p:spPr>
          <a:xfrm>
            <a:off x="913925" y="1761725"/>
            <a:ext cx="7308900" cy="27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So, for a table to be in 3NF, it must:</a:t>
            </a:r>
            <a:endParaRPr/>
          </a:p>
          <a:p>
            <a:pPr indent="-317500" lvl="0" marL="457200" rtl="0" algn="l">
              <a:spcBef>
                <a:spcPts val="0"/>
              </a:spcBef>
              <a:spcAft>
                <a:spcPts val="0"/>
              </a:spcAft>
              <a:buSzPts val="1400"/>
              <a:buChar char="●"/>
            </a:pPr>
            <a:r>
              <a:rPr lang="en"/>
              <a:t>be in 2NF</a:t>
            </a:r>
            <a:endParaRPr/>
          </a:p>
          <a:p>
            <a:pPr indent="-317500" lvl="0" marL="457200" rtl="0" algn="l">
              <a:spcBef>
                <a:spcPts val="0"/>
              </a:spcBef>
              <a:spcAft>
                <a:spcPts val="0"/>
              </a:spcAft>
              <a:buSzPts val="1400"/>
              <a:buChar char="●"/>
            </a:pPr>
            <a:r>
              <a:rPr lang="en"/>
              <a:t>have no transitive partial dependency.</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b="1"/>
          </a:p>
          <a:p>
            <a:pPr indent="0" lvl="0" marL="457200" rtl="0" algn="l">
              <a:spcBef>
                <a:spcPts val="0"/>
              </a:spcBef>
              <a:spcAft>
                <a:spcPts val="0"/>
              </a:spcAft>
              <a:buNone/>
            </a:pPr>
            <a:r>
              <a:t/>
            </a:r>
            <a:endParaRPr b="1"/>
          </a:p>
          <a:p>
            <a:pPr indent="0" lvl="0" marL="0" rtl="0" algn="l">
              <a:spcBef>
                <a:spcPts val="0"/>
              </a:spcBef>
              <a:spcAft>
                <a:spcPts val="0"/>
              </a:spcAft>
              <a:buNone/>
            </a:pPr>
            <a:r>
              <a:t/>
            </a:r>
            <a:endParaRPr i="1"/>
          </a:p>
          <a:p>
            <a:pPr indent="0" lvl="0" marL="457200" rtl="0" algn="l">
              <a:spcBef>
                <a:spcPts val="0"/>
              </a:spcBef>
              <a:spcAft>
                <a:spcPts val="0"/>
              </a:spcAft>
              <a:buNone/>
            </a:pPr>
            <a:r>
              <a:t/>
            </a:r>
            <a:endParaRPr/>
          </a:p>
          <a:p>
            <a:pPr indent="0" lvl="0" marL="0" marR="0" rtl="0" algn="l">
              <a:lnSpc>
                <a:spcPct val="160000"/>
              </a:lnSpc>
              <a:spcBef>
                <a:spcPts val="0"/>
              </a:spcBef>
              <a:spcAft>
                <a:spcPts val="0"/>
              </a:spcAft>
              <a:buNone/>
            </a:pPr>
            <a:r>
              <a:t/>
            </a:r>
            <a:endParaRPr sz="1200">
              <a:solidFill>
                <a:srgbClr val="0F1F3D"/>
              </a:solidFill>
              <a:highlight>
                <a:srgbClr val="FFFFFF"/>
              </a:highlight>
              <a:latin typeface="Arial"/>
              <a:ea typeface="Arial"/>
              <a:cs typeface="Arial"/>
              <a:sym typeface="Arial"/>
            </a:endParaRPr>
          </a:p>
          <a:p>
            <a:pPr indent="0" lvl="0" marL="457200" rtl="0" algn="l">
              <a:spcBef>
                <a:spcPts val="800"/>
              </a:spcBef>
              <a:spcAft>
                <a:spcPts val="0"/>
              </a:spcAft>
              <a:buNone/>
            </a:pPr>
            <a:r>
              <a:t/>
            </a:r>
            <a:endParaRPr/>
          </a:p>
        </p:txBody>
      </p:sp>
      <p:sp>
        <p:nvSpPr>
          <p:cNvPr id="597" name="Google Shape;597;p76"/>
          <p:cNvSpPr txBox="1"/>
          <p:nvPr>
            <p:ph type="title"/>
          </p:nvPr>
        </p:nvSpPr>
        <p:spPr>
          <a:xfrm>
            <a:off x="1138300" y="430875"/>
            <a:ext cx="609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Third Normal Form – 3NF</a:t>
            </a:r>
            <a:endParaRPr b="1" sz="1300">
              <a:solidFill>
                <a:srgbClr val="1B1B32"/>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1" name="Shape 601"/>
        <p:cNvGrpSpPr/>
        <p:nvPr/>
      </p:nvGrpSpPr>
      <p:grpSpPr>
        <a:xfrm>
          <a:off x="0" y="0"/>
          <a:ext cx="0" cy="0"/>
          <a:chOff x="0" y="0"/>
          <a:chExt cx="0" cy="0"/>
        </a:xfrm>
      </p:grpSpPr>
      <p:pic>
        <p:nvPicPr>
          <p:cNvPr id="602" name="Google Shape;602;p77"/>
          <p:cNvPicPr preferRelativeResize="0"/>
          <p:nvPr/>
        </p:nvPicPr>
        <p:blipFill>
          <a:blip r:embed="rId3">
            <a:alphaModFix/>
          </a:blip>
          <a:stretch>
            <a:fillRect/>
          </a:stretch>
        </p:blipFill>
        <p:spPr>
          <a:xfrm>
            <a:off x="338138" y="1029125"/>
            <a:ext cx="8467725" cy="2847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6" name="Shape 606"/>
        <p:cNvGrpSpPr/>
        <p:nvPr/>
      </p:nvGrpSpPr>
      <p:grpSpPr>
        <a:xfrm>
          <a:off x="0" y="0"/>
          <a:ext cx="0" cy="0"/>
          <a:chOff x="0" y="0"/>
          <a:chExt cx="0" cy="0"/>
        </a:xfrm>
      </p:grpSpPr>
      <p:pic>
        <p:nvPicPr>
          <p:cNvPr id="607" name="Google Shape;607;p78"/>
          <p:cNvPicPr preferRelativeResize="0"/>
          <p:nvPr/>
        </p:nvPicPr>
        <p:blipFill>
          <a:blip r:embed="rId3">
            <a:alphaModFix/>
          </a:blip>
          <a:stretch>
            <a:fillRect/>
          </a:stretch>
        </p:blipFill>
        <p:spPr>
          <a:xfrm>
            <a:off x="93950" y="298850"/>
            <a:ext cx="5810148" cy="2028825"/>
          </a:xfrm>
          <a:prstGeom prst="rect">
            <a:avLst/>
          </a:prstGeom>
          <a:noFill/>
          <a:ln>
            <a:noFill/>
          </a:ln>
        </p:spPr>
      </p:pic>
      <p:pic>
        <p:nvPicPr>
          <p:cNvPr id="608" name="Google Shape;608;p78"/>
          <p:cNvPicPr preferRelativeResize="0"/>
          <p:nvPr/>
        </p:nvPicPr>
        <p:blipFill>
          <a:blip r:embed="rId4">
            <a:alphaModFix/>
          </a:blip>
          <a:stretch>
            <a:fillRect/>
          </a:stretch>
        </p:blipFill>
        <p:spPr>
          <a:xfrm>
            <a:off x="167025" y="2878400"/>
            <a:ext cx="6025202" cy="2028825"/>
          </a:xfrm>
          <a:prstGeom prst="rect">
            <a:avLst/>
          </a:prstGeom>
          <a:noFill/>
          <a:ln>
            <a:noFill/>
          </a:ln>
        </p:spPr>
      </p:pic>
      <p:pic>
        <p:nvPicPr>
          <p:cNvPr id="609" name="Google Shape;609;p78"/>
          <p:cNvPicPr preferRelativeResize="0"/>
          <p:nvPr/>
        </p:nvPicPr>
        <p:blipFill>
          <a:blip r:embed="rId5">
            <a:alphaModFix/>
          </a:blip>
          <a:stretch>
            <a:fillRect/>
          </a:stretch>
        </p:blipFill>
        <p:spPr>
          <a:xfrm>
            <a:off x="3990250" y="1060925"/>
            <a:ext cx="5306050" cy="1817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